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8C"/>
          </a:solidFill>
          <a:ln w="12700">
            <a:solidFill>
              <a:srgbClr val="0A7E8C"/>
            </a:solidFill>
            <a:prstDash val="solid"/>
          </a:ln>
        </p:spPr>
      </p:sp>
      <p:sp>
        <p:nvSpPr>
          <p:cNvPr id="3" name="Shape 1"/>
          <p:cNvSpPr/>
          <p:nvPr/>
        </p:nvSpPr>
        <p:spPr>
          <a:xfrm>
            <a:off x="164592" y="0"/>
            <a:ext cx="54864" cy="5143500"/>
          </a:xfrm>
          <a:prstGeom prst="rect">
            <a:avLst/>
          </a:prstGeom>
          <a:solidFill>
            <a:srgbClr val="F0A500"/>
          </a:solidFill>
          <a:ln w="12700">
            <a:solidFill>
              <a:srgbClr val="F0A500"/>
            </a:solidFill>
            <a:prstDash val="solid"/>
          </a:ln>
        </p:spPr>
      </p:sp>
      <p:sp>
        <p:nvSpPr>
          <p:cNvPr id="4" name="Shape 2"/>
          <p:cNvSpPr/>
          <p:nvPr/>
        </p:nvSpPr>
        <p:spPr>
          <a:xfrm>
            <a:off x="3200400" y="411480"/>
            <a:ext cx="2743200" cy="347472"/>
          </a:xfrm>
          <a:prstGeom prst="roundRect">
            <a:avLst>
              <a:gd name="adj" fmla="val 39474"/>
            </a:avLst>
          </a:prstGeom>
          <a:solidFill>
            <a:srgbClr val="0A7E8C"/>
          </a:solidFill>
          <a:ln w="12700">
            <a:solidFill>
              <a:srgbClr val="0A7E8C"/>
            </a:solidFill>
            <a:prstDash val="solid"/>
          </a:ln>
        </p:spPr>
      </p:sp>
      <p:sp>
        <p:nvSpPr>
          <p:cNvPr id="5" name="Text 3"/>
          <p:cNvSpPr/>
          <p:nvPr/>
        </p:nvSpPr>
        <p:spPr>
          <a:xfrm>
            <a:off x="3200400" y="411480"/>
            <a:ext cx="2743200" cy="347472"/>
          </a:xfrm>
          <a:prstGeom prst="rect">
            <a:avLst/>
          </a:prstGeom>
          <a:noFill/>
          <a:ln/>
        </p:spPr>
        <p:txBody>
          <a:bodyPr wrap="square" lIns="0" tIns="0" rIns="0" bIns="0" rtlCol="0" anchor="ctr"/>
          <a:lstStyle/>
          <a:p>
            <a:pPr algn="ctr" indent="0" marL="0">
              <a:buNone/>
            </a:pPr>
            <a:r>
              <a:rPr lang="en-US" sz="1100" b="1" dirty="0">
                <a:solidFill>
                  <a:srgbClr val="FFFFFF"/>
                </a:solidFill>
              </a:rPr>
              <a:t>Semester Major Assignment</a:t>
            </a:r>
            <a:endParaRPr lang="en-US" sz="1100" dirty="0"/>
          </a:p>
        </p:txBody>
      </p:sp>
      <p:sp>
        <p:nvSpPr>
          <p:cNvPr id="6" name="Text 4"/>
          <p:cNvSpPr/>
          <p:nvPr/>
        </p:nvSpPr>
        <p:spPr>
          <a:xfrm>
            <a:off x="502920" y="914400"/>
            <a:ext cx="8138160" cy="25603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 Comparative Analysis of Preprocessing, Regularization, and Class Imbalance Techniques in EEG-Based Seizure Prediction</a:t>
            </a:r>
            <a:endParaRPr lang="en-US" sz="3200" dirty="0"/>
          </a:p>
        </p:txBody>
      </p:sp>
      <p:sp>
        <p:nvSpPr>
          <p:cNvPr id="7" name="Text 5"/>
          <p:cNvSpPr/>
          <p:nvPr/>
        </p:nvSpPr>
        <p:spPr>
          <a:xfrm>
            <a:off x="502920" y="3429000"/>
            <a:ext cx="8138160" cy="457200"/>
          </a:xfrm>
          <a:prstGeom prst="rect">
            <a:avLst/>
          </a:prstGeom>
          <a:noFill/>
          <a:ln/>
        </p:spPr>
        <p:txBody>
          <a:bodyPr wrap="square" rtlCol="0" anchor="ctr"/>
          <a:lstStyle/>
          <a:p>
            <a:pPr algn="ctr" indent="0" marL="0">
              <a:buNone/>
            </a:pPr>
            <a:r>
              <a:rPr lang="en-US" sz="1400" i="1" dirty="0">
                <a:solidFill>
                  <a:srgbClr val="12B5C5"/>
                </a:solidFill>
                <a:latin typeface="Calibri" pitchFamily="34" charset="0"/>
                <a:ea typeface="Calibri" pitchFamily="34" charset="-122"/>
                <a:cs typeface="Calibri" pitchFamily="34" charset="-120"/>
              </a:rPr>
              <a:t>Investigating Generalization Performance in Machine Learning</a:t>
            </a:r>
            <a:endParaRPr lang="en-US" sz="1400" dirty="0"/>
          </a:p>
        </p:txBody>
      </p:sp>
      <p:sp>
        <p:nvSpPr>
          <p:cNvPr id="8" name="Shape 6"/>
          <p:cNvSpPr/>
          <p:nvPr/>
        </p:nvSpPr>
        <p:spPr>
          <a:xfrm>
            <a:off x="2286000" y="3977640"/>
            <a:ext cx="4572000" cy="0"/>
          </a:xfrm>
          <a:prstGeom prst="line">
            <a:avLst/>
          </a:prstGeom>
          <a:noFill/>
          <a:ln w="19050">
            <a:solidFill>
              <a:srgbClr val="0A7E8C"/>
            </a:solidFill>
            <a:prstDash val="solid"/>
          </a:ln>
        </p:spPr>
      </p:sp>
      <p:sp>
        <p:nvSpPr>
          <p:cNvPr id="9" name="Text 7"/>
          <p:cNvSpPr/>
          <p:nvPr/>
        </p:nvSpPr>
        <p:spPr>
          <a:xfrm>
            <a:off x="502920" y="4114800"/>
            <a:ext cx="813816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Hassan Mehmood</a:t>
            </a:r>
            <a:endParaRPr lang="en-US" sz="1500" dirty="0"/>
          </a:p>
        </p:txBody>
      </p:sp>
      <p:sp>
        <p:nvSpPr>
          <p:cNvPr id="10" name="Text 8"/>
          <p:cNvSpPr/>
          <p:nvPr/>
        </p:nvSpPr>
        <p:spPr>
          <a:xfrm>
            <a:off x="502920" y="4480560"/>
            <a:ext cx="8138160" cy="274320"/>
          </a:xfrm>
          <a:prstGeom prst="rect">
            <a:avLst/>
          </a:prstGeom>
          <a:noFill/>
          <a:ln/>
        </p:spPr>
        <p:txBody>
          <a:bodyPr wrap="square" rtlCol="0" anchor="ctr"/>
          <a:lstStyle/>
          <a:p>
            <a:pPr algn="ctr" indent="0" marL="0">
              <a:buNone/>
            </a:pPr>
            <a:r>
              <a:rPr lang="en-US" sz="1100" dirty="0">
                <a:solidFill>
                  <a:srgbClr val="4A6572"/>
                </a:solidFill>
                <a:latin typeface="Calibri" pitchFamily="34" charset="0"/>
                <a:ea typeface="Calibri" pitchFamily="34" charset="-122"/>
                <a:cs typeface="Calibri" pitchFamily="34" charset="-120"/>
              </a:rPr>
              <a:t>BSCS-B-6th  |  Semester VI  |  Machine Learning</a:t>
            </a:r>
            <a:endParaRPr lang="en-US" sz="1100" dirty="0"/>
          </a:p>
        </p:txBody>
      </p:sp>
      <p:sp>
        <p:nvSpPr>
          <p:cNvPr id="11" name="Text 9"/>
          <p:cNvSpPr/>
          <p:nvPr/>
        </p:nvSpPr>
        <p:spPr>
          <a:xfrm>
            <a:off x="502920" y="4754880"/>
            <a:ext cx="8138160" cy="256032"/>
          </a:xfrm>
          <a:prstGeom prst="rect">
            <a:avLst/>
          </a:prstGeom>
          <a:noFill/>
          <a:ln/>
        </p:spPr>
        <p:txBody>
          <a:bodyPr wrap="square" rtlCol="0" anchor="ctr"/>
          <a:lstStyle/>
          <a:p>
            <a:pPr algn="ctr" indent="0" marL="0">
              <a:buNone/>
            </a:pPr>
            <a:r>
              <a:rPr lang="en-US" sz="1000" dirty="0">
                <a:solidFill>
                  <a:srgbClr val="4A6572"/>
                </a:solidFill>
                <a:latin typeface="Calibri" pitchFamily="34" charset="0"/>
                <a:ea typeface="Calibri" pitchFamily="34" charset="-122"/>
                <a:cs typeface="Calibri" pitchFamily="34" charset="-120"/>
              </a:rPr>
              <a:t>Institute of Management Sciences (IMSciences), Peshawar  —  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  Dataset Collection &amp; Justification</a:t>
            </a:r>
            <a:endParaRPr lang="en-US" sz="2200" dirty="0"/>
          </a:p>
        </p:txBody>
      </p:sp>
      <p:sp>
        <p:nvSpPr>
          <p:cNvPr id="5" name="Shape 3"/>
          <p:cNvSpPr/>
          <p:nvPr/>
        </p:nvSpPr>
        <p:spPr>
          <a:xfrm>
            <a:off x="320040" y="914400"/>
            <a:ext cx="2743200" cy="21945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914400"/>
            <a:ext cx="64008" cy="2194560"/>
          </a:xfrm>
          <a:prstGeom prst="rect">
            <a:avLst/>
          </a:prstGeom>
          <a:solidFill>
            <a:srgbClr val="0A7E8C"/>
          </a:solidFill>
          <a:ln w="12700">
            <a:solidFill>
              <a:srgbClr val="0A7E8C"/>
            </a:solidFill>
            <a:prstDash val="solid"/>
          </a:ln>
        </p:spPr>
      </p:sp>
      <p:sp>
        <p:nvSpPr>
          <p:cNvPr id="7" name="Text 5"/>
          <p:cNvSpPr/>
          <p:nvPr/>
        </p:nvSpPr>
        <p:spPr>
          <a:xfrm>
            <a:off x="45720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UCI Bonn</a:t>
            </a:r>
            <a:endParaRPr lang="en-US" sz="1300" dirty="0"/>
          </a:p>
        </p:txBody>
      </p:sp>
      <p:sp>
        <p:nvSpPr>
          <p:cNvPr id="8" name="Text 6"/>
          <p:cNvSpPr/>
          <p:nvPr/>
        </p:nvSpPr>
        <p:spPr>
          <a:xfrm>
            <a:off x="457200" y="1344168"/>
            <a:ext cx="2514600" cy="16916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Controlled EEG segments. Ideal for testing baseline filters and stationary signal behavior.</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Imbalance: 1:4</a:t>
            </a:r>
            <a:endParaRPr lang="en-US" sz="1150" dirty="0"/>
          </a:p>
        </p:txBody>
      </p:sp>
      <p:sp>
        <p:nvSpPr>
          <p:cNvPr id="9" name="Shape 7"/>
          <p:cNvSpPr/>
          <p:nvPr/>
        </p:nvSpPr>
        <p:spPr>
          <a:xfrm>
            <a:off x="3246120" y="914400"/>
            <a:ext cx="2743200" cy="21945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246120" y="914400"/>
            <a:ext cx="64008" cy="2194560"/>
          </a:xfrm>
          <a:prstGeom prst="rect">
            <a:avLst/>
          </a:prstGeom>
          <a:solidFill>
            <a:srgbClr val="0A7E8C"/>
          </a:solidFill>
          <a:ln w="12700">
            <a:solidFill>
              <a:srgbClr val="0A7E8C"/>
            </a:solidFill>
            <a:prstDash val="solid"/>
          </a:ln>
        </p:spPr>
      </p:sp>
      <p:sp>
        <p:nvSpPr>
          <p:cNvPr id="11" name="Text 9"/>
          <p:cNvSpPr/>
          <p:nvPr/>
        </p:nvSpPr>
        <p:spPr>
          <a:xfrm>
            <a:off x="338328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CHB-MIT</a:t>
            </a:r>
            <a:endParaRPr lang="en-US" sz="1300" dirty="0"/>
          </a:p>
        </p:txBody>
      </p:sp>
      <p:sp>
        <p:nvSpPr>
          <p:cNvPr id="12" name="Text 10"/>
          <p:cNvSpPr/>
          <p:nvPr/>
        </p:nvSpPr>
        <p:spPr>
          <a:xfrm>
            <a:off x="3383280" y="1344168"/>
            <a:ext cx="2514600" cy="16916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Continuous clinical Scalp EEG. High complexity and multi-channel dynamics.</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Imbalance: 1:50 (Severe)</a:t>
            </a:r>
            <a:endParaRPr lang="en-US" sz="1150" dirty="0"/>
          </a:p>
        </p:txBody>
      </p:sp>
      <p:sp>
        <p:nvSpPr>
          <p:cNvPr id="13" name="Shape 11"/>
          <p:cNvSpPr/>
          <p:nvPr/>
        </p:nvSpPr>
        <p:spPr>
          <a:xfrm>
            <a:off x="6172200" y="914400"/>
            <a:ext cx="2743200" cy="21945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6172200" y="914400"/>
            <a:ext cx="64008" cy="2194560"/>
          </a:xfrm>
          <a:prstGeom prst="rect">
            <a:avLst/>
          </a:prstGeom>
          <a:solidFill>
            <a:srgbClr val="0A7E8C"/>
          </a:solidFill>
          <a:ln w="12700">
            <a:solidFill>
              <a:srgbClr val="0A7E8C"/>
            </a:solidFill>
            <a:prstDash val="solid"/>
          </a:ln>
        </p:spPr>
      </p:sp>
      <p:sp>
        <p:nvSpPr>
          <p:cNvPr id="15" name="Text 13"/>
          <p:cNvSpPr/>
          <p:nvPr/>
        </p:nvSpPr>
        <p:spPr>
          <a:xfrm>
            <a:off x="630936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Siena Dataset</a:t>
            </a:r>
            <a:endParaRPr lang="en-US" sz="1300" dirty="0"/>
          </a:p>
        </p:txBody>
      </p:sp>
      <p:sp>
        <p:nvSpPr>
          <p:cNvPr id="16" name="Text 14"/>
          <p:cNvSpPr/>
          <p:nvPr/>
        </p:nvSpPr>
        <p:spPr>
          <a:xfrm>
            <a:off x="6309360" y="1344168"/>
            <a:ext cx="2514600" cy="16916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Adult Scalp EEG with significant noise and artifacts. Tests model robustness.</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Imbalance: 1:5.7</a:t>
            </a:r>
            <a:endParaRPr lang="en-US" sz="1150" dirty="0"/>
          </a:p>
        </p:txBody>
      </p:sp>
      <p:sp>
        <p:nvSpPr>
          <p:cNvPr id="17" name="Shape 15"/>
          <p:cNvSpPr/>
          <p:nvPr/>
        </p:nvSpPr>
        <p:spPr>
          <a:xfrm>
            <a:off x="320040" y="3246120"/>
            <a:ext cx="8503920" cy="160020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8" name="Text 16"/>
          <p:cNvSpPr/>
          <p:nvPr/>
        </p:nvSpPr>
        <p:spPr>
          <a:xfrm>
            <a:off x="502920" y="3337560"/>
            <a:ext cx="3200400" cy="27432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Justification Factors</a:t>
            </a:r>
            <a:endParaRPr lang="en-US" sz="1300" dirty="0"/>
          </a:p>
        </p:txBody>
      </p:sp>
      <p:sp>
        <p:nvSpPr>
          <p:cNvPr id="19" name="Text 17"/>
          <p:cNvSpPr/>
          <p:nvPr/>
        </p:nvSpPr>
        <p:spPr>
          <a:xfrm>
            <a:off x="502920" y="3657600"/>
            <a:ext cx="8229600" cy="1097280"/>
          </a:xfrm>
          <a:prstGeom prst="rect">
            <a:avLst/>
          </a:prstGeom>
          <a:noFill/>
          <a:ln/>
        </p:spPr>
        <p:txBody>
          <a:bodyPr wrap="square" rtlCol="0" anchor="ctr"/>
          <a:lstStyle/>
          <a:p>
            <a:pPr indent="0" marL="0">
              <a:buNone/>
            </a:pPr>
            <a:r>
              <a:rPr lang="en-US" sz="1200" b="1" dirty="0">
                <a:solidFill>
                  <a:srgbClr val="4A6572"/>
                </a:solidFill>
                <a:latin typeface="Calibri" pitchFamily="34" charset="0"/>
                <a:ea typeface="Calibri" pitchFamily="34" charset="-122"/>
                <a:cs typeface="Calibri" pitchFamily="34" charset="-120"/>
              </a:rPr>
              <a:t>Size: </a:t>
            </a:r>
            <a:pPr indent="0" marL="0">
              <a:buNone/>
            </a:pPr>
            <a:r>
              <a:rPr lang="en-US" sz="1200" dirty="0">
                <a:solidFill>
                  <a:srgbClr val="4A6572"/>
                </a:solidFill>
                <a:latin typeface="Calibri" pitchFamily="34" charset="0"/>
                <a:ea typeface="Calibri" pitchFamily="34" charset="-122"/>
                <a:cs typeface="Calibri" pitchFamily="34" charset="-120"/>
              </a:rPr>
              <a:t>Thousands of hours of clinical recording.</a:t>
            </a:r>
            <a:endParaRPr lang="en-US" sz="1200" dirty="0"/>
          </a:p>
          <a:p>
            <a:pPr indent="0" marL="0">
              <a:buNone/>
            </a:pPr>
            <a:r>
              <a:rPr lang="en-US" sz="1200" b="1" dirty="0">
                <a:solidFill>
                  <a:srgbClr val="4A6572"/>
                </a:solidFill>
                <a:latin typeface="Calibri" pitchFamily="34" charset="0"/>
                <a:ea typeface="Calibri" pitchFamily="34" charset="-122"/>
                <a:cs typeface="Calibri" pitchFamily="34" charset="-120"/>
              </a:rPr>
              <a:t>Class Imbalance: </a:t>
            </a:r>
            <a:pPr indent="0" marL="0">
              <a:buNone/>
            </a:pPr>
            <a:r>
              <a:rPr lang="en-US" sz="1200" dirty="0">
                <a:solidFill>
                  <a:srgbClr val="4A6572"/>
                </a:solidFill>
                <a:latin typeface="Calibri" pitchFamily="34" charset="0"/>
                <a:ea typeface="Calibri" pitchFamily="34" charset="-122"/>
                <a:cs typeface="Calibri" pitchFamily="34" charset="-120"/>
              </a:rPr>
              <a:t>Mimics real-world rarity of ictal events.</a:t>
            </a:r>
            <a:endParaRPr lang="en-US" sz="1200" dirty="0"/>
          </a:p>
          <a:p>
            <a:pPr indent="0" marL="0">
              <a:buNone/>
            </a:pPr>
            <a:r>
              <a:rPr lang="en-US" sz="1200" b="1" dirty="0">
                <a:solidFill>
                  <a:srgbClr val="4A6572"/>
                </a:solidFill>
                <a:latin typeface="Calibri" pitchFamily="34" charset="0"/>
                <a:ea typeface="Calibri" pitchFamily="34" charset="-122"/>
                <a:cs typeface="Calibri" pitchFamily="34" charset="-120"/>
              </a:rPr>
              <a:t>Features: </a:t>
            </a:r>
            <a:pPr indent="0" marL="0">
              <a:buNone/>
            </a:pPr>
            <a:r>
              <a:rPr lang="en-US" sz="1200" dirty="0">
                <a:solidFill>
                  <a:srgbClr val="4A6572"/>
                </a:solidFill>
                <a:latin typeface="Calibri" pitchFamily="34" charset="0"/>
                <a:ea typeface="Calibri" pitchFamily="34" charset="-122"/>
                <a:cs typeface="Calibri" pitchFamily="34" charset="-120"/>
              </a:rPr>
              <a:t>Mix of raw time-series and processed feature vectors.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2.  Preprocessing Pipelines</a:t>
            </a:r>
            <a:endParaRPr lang="en-US" sz="2200" dirty="0"/>
          </a:p>
        </p:txBody>
      </p:sp>
      <p:sp>
        <p:nvSpPr>
          <p:cNvPr id="5" name="Text 3"/>
          <p:cNvSpPr/>
          <p:nvPr/>
        </p:nvSpPr>
        <p:spPr>
          <a:xfrm>
            <a:off x="320040" y="822960"/>
            <a:ext cx="8503920" cy="320040"/>
          </a:xfrm>
          <a:prstGeom prst="rect">
            <a:avLst/>
          </a:prstGeom>
          <a:noFill/>
          <a:ln/>
        </p:spPr>
        <p:txBody>
          <a:bodyPr wrap="square" rtlCol="0" anchor="ctr"/>
          <a:lstStyle/>
          <a:p>
            <a:pPr indent="0" marL="0">
              <a:buNone/>
            </a:pPr>
            <a:r>
              <a:rPr lang="en-US" sz="1300" dirty="0">
                <a:solidFill>
                  <a:srgbClr val="4A6572"/>
                </a:solidFill>
                <a:latin typeface="Calibri" pitchFamily="34" charset="0"/>
                <a:ea typeface="Calibri" pitchFamily="34" charset="-122"/>
                <a:cs typeface="Calibri" pitchFamily="34" charset="-120"/>
              </a:rPr>
              <a:t>The </a:t>
            </a:r>
            <a:pPr indent="0" marL="0">
              <a:buNone/>
            </a:pPr>
            <a:r>
              <a:rPr lang="en-US" sz="1300" b="1" dirty="0">
                <a:solidFill>
                  <a:srgbClr val="0A7E8C"/>
                </a:solidFill>
                <a:latin typeface="Calibri" pitchFamily="34" charset="0"/>
                <a:ea typeface="Calibri" pitchFamily="34" charset="-122"/>
                <a:cs typeface="Calibri" pitchFamily="34" charset="-120"/>
              </a:rPr>
              <a:t>ordering of steps</a:t>
            </a:r>
            <a:pPr indent="0" marL="0">
              <a:buNone/>
            </a:pPr>
            <a:r>
              <a:rPr lang="en-US" sz="1300" dirty="0">
                <a:solidFill>
                  <a:srgbClr val="4A6572"/>
                </a:solidFill>
                <a:latin typeface="Calibri" pitchFamily="34" charset="0"/>
                <a:ea typeface="Calibri" pitchFamily="34" charset="-122"/>
                <a:cs typeface="Calibri" pitchFamily="34" charset="-120"/>
              </a:rPr>
              <a:t> is critical. We analyze three distinct architectural flows:</a:t>
            </a:r>
            <a:endParaRPr lang="en-US" sz="1300" dirty="0"/>
          </a:p>
        </p:txBody>
      </p:sp>
      <p:sp>
        <p:nvSpPr>
          <p:cNvPr id="6" name="Shape 4"/>
          <p:cNvSpPr/>
          <p:nvPr/>
        </p:nvSpPr>
        <p:spPr>
          <a:xfrm>
            <a:off x="320040" y="1234440"/>
            <a:ext cx="4206240" cy="146304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20040" y="1234440"/>
            <a:ext cx="64008" cy="1463040"/>
          </a:xfrm>
          <a:prstGeom prst="rect">
            <a:avLst/>
          </a:prstGeom>
          <a:solidFill>
            <a:srgbClr val="0A7E8C"/>
          </a:solidFill>
          <a:ln w="12700">
            <a:solidFill>
              <a:srgbClr val="0A7E8C"/>
            </a:solidFill>
            <a:prstDash val="solid"/>
          </a:ln>
        </p:spPr>
      </p:sp>
      <p:sp>
        <p:nvSpPr>
          <p:cNvPr id="8" name="Text 6"/>
          <p:cNvSpPr/>
          <p:nvPr/>
        </p:nvSpPr>
        <p:spPr>
          <a:xfrm>
            <a:off x="457200" y="1344168"/>
            <a:ext cx="402336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Pipeline A: Signal-Centric</a:t>
            </a:r>
            <a:endParaRPr lang="en-US" sz="1300" dirty="0"/>
          </a:p>
        </p:txBody>
      </p:sp>
      <p:sp>
        <p:nvSpPr>
          <p:cNvPr id="9" name="Text 7"/>
          <p:cNvSpPr/>
          <p:nvPr/>
        </p:nvSpPr>
        <p:spPr>
          <a:xfrm>
            <a:off x="457200" y="1664208"/>
            <a:ext cx="3977640" cy="96012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Standardization  →  Noise Removal  →  Univariate Feature Selection (SelectKBest)</a:t>
            </a:r>
            <a:endParaRPr lang="en-US" sz="1150" dirty="0"/>
          </a:p>
        </p:txBody>
      </p:sp>
      <p:sp>
        <p:nvSpPr>
          <p:cNvPr id="10" name="Shape 8"/>
          <p:cNvSpPr/>
          <p:nvPr/>
        </p:nvSpPr>
        <p:spPr>
          <a:xfrm>
            <a:off x="4663440" y="1234440"/>
            <a:ext cx="4206240" cy="146304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4663440" y="1234440"/>
            <a:ext cx="64008" cy="1463040"/>
          </a:xfrm>
          <a:prstGeom prst="rect">
            <a:avLst/>
          </a:prstGeom>
          <a:solidFill>
            <a:srgbClr val="0A7E8C"/>
          </a:solidFill>
          <a:ln w="12700">
            <a:solidFill>
              <a:srgbClr val="0A7E8C"/>
            </a:solidFill>
            <a:prstDash val="solid"/>
          </a:ln>
        </p:spPr>
      </p:sp>
      <p:sp>
        <p:nvSpPr>
          <p:cNvPr id="12" name="Text 10"/>
          <p:cNvSpPr/>
          <p:nvPr/>
        </p:nvSpPr>
        <p:spPr>
          <a:xfrm>
            <a:off x="4800600" y="1344168"/>
            <a:ext cx="402336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Pipeline B: Feature-Centric</a:t>
            </a:r>
            <a:endParaRPr lang="en-US" sz="1300" dirty="0"/>
          </a:p>
        </p:txBody>
      </p:sp>
      <p:sp>
        <p:nvSpPr>
          <p:cNvPr id="13" name="Text 11"/>
          <p:cNvSpPr/>
          <p:nvPr/>
        </p:nvSpPr>
        <p:spPr>
          <a:xfrm>
            <a:off x="4800600" y="1664208"/>
            <a:ext cx="3977640" cy="96012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Feature Extraction  →  Robust Scaling  →  PCA (95% Variance)</a:t>
            </a:r>
            <a:endParaRPr lang="en-US" sz="1150" dirty="0"/>
          </a:p>
        </p:txBody>
      </p:sp>
      <p:sp>
        <p:nvSpPr>
          <p:cNvPr id="14" name="Shape 12"/>
          <p:cNvSpPr/>
          <p:nvPr/>
        </p:nvSpPr>
        <p:spPr>
          <a:xfrm>
            <a:off x="320040" y="2834640"/>
            <a:ext cx="8549640" cy="1691640"/>
          </a:xfrm>
          <a:prstGeom prst="rect">
            <a:avLst/>
          </a:prstGeom>
          <a:solidFill>
            <a:srgbClr val="E6F4F7"/>
          </a:solidFill>
          <a:ln w="19050">
            <a:solidFill>
              <a:srgbClr val="0A7E8C"/>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0040" y="2834640"/>
            <a:ext cx="64008" cy="1691640"/>
          </a:xfrm>
          <a:prstGeom prst="rect">
            <a:avLst/>
          </a:prstGeom>
          <a:solidFill>
            <a:srgbClr val="12B5C5"/>
          </a:solidFill>
          <a:ln w="12700">
            <a:solidFill>
              <a:srgbClr val="12B5C5"/>
            </a:solidFill>
            <a:prstDash val="solid"/>
          </a:ln>
        </p:spPr>
      </p:sp>
      <p:sp>
        <p:nvSpPr>
          <p:cNvPr id="16" name="Text 14"/>
          <p:cNvSpPr/>
          <p:nvPr/>
        </p:nvSpPr>
        <p:spPr>
          <a:xfrm>
            <a:off x="502920" y="2926080"/>
            <a:ext cx="8229600" cy="32004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Research Insight (Pipeline C): The Hybrid Model</a:t>
            </a:r>
            <a:endParaRPr lang="en-US" sz="1300" dirty="0"/>
          </a:p>
        </p:txBody>
      </p:sp>
      <p:sp>
        <p:nvSpPr>
          <p:cNvPr id="17" name="Text 15"/>
          <p:cNvSpPr/>
          <p:nvPr/>
        </p:nvSpPr>
        <p:spPr>
          <a:xfrm>
            <a:off x="502920" y="3291840"/>
            <a:ext cx="8229600" cy="109728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Applying </a:t>
            </a:r>
            <a:pPr indent="0" marL="0">
              <a:buNone/>
            </a:pPr>
            <a:r>
              <a:rPr lang="en-US" sz="1200" b="1" dirty="0">
                <a:solidFill>
                  <a:srgbClr val="0A7E8C"/>
                </a:solidFill>
                <a:latin typeface="Calibri" pitchFamily="34" charset="0"/>
                <a:ea typeface="Calibri" pitchFamily="34" charset="-122"/>
                <a:cs typeface="Calibri" pitchFamily="34" charset="-120"/>
              </a:rPr>
              <a:t>PCA before Feature Selection</a:t>
            </a:r>
            <a:pPr indent="0" marL="0">
              <a:buNone/>
            </a:pPr>
            <a:r>
              <a:rPr lang="en-US" sz="1200" dirty="0">
                <a:solidFill>
                  <a:srgbClr val="0D1B2A"/>
                </a:solidFill>
                <a:latin typeface="Calibri" pitchFamily="34" charset="0"/>
                <a:ea typeface="Calibri" pitchFamily="34" charset="-122"/>
                <a:cs typeface="Calibri" pitchFamily="34" charset="-120"/>
              </a:rPr>
              <a:t> captures spatial cross-channel correlations that discrete selection often discards. This hybrid approach yields superior generalization across patients.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Baseline Model: Logistic Regression</a:t>
            </a:r>
            <a:endParaRPr lang="en-US" sz="2200" dirty="0"/>
          </a:p>
        </p:txBody>
      </p:sp>
      <p:sp>
        <p:nvSpPr>
          <p:cNvPr id="5" name="Text 3"/>
          <p:cNvSpPr/>
          <p:nvPr/>
        </p:nvSpPr>
        <p:spPr>
          <a:xfrm>
            <a:off x="320040" y="914400"/>
            <a:ext cx="4297680" cy="640080"/>
          </a:xfrm>
          <a:prstGeom prst="rect">
            <a:avLst/>
          </a:prstGeom>
          <a:noFill/>
          <a:ln/>
        </p:spPr>
        <p:txBody>
          <a:bodyPr wrap="square" rtlCol="0" anchor="ctr"/>
          <a:lstStyle/>
          <a:p>
            <a:pPr indent="0" marL="0">
              <a:buNone/>
            </a:pPr>
            <a:r>
              <a:rPr lang="en-US" sz="1300" dirty="0">
                <a:solidFill>
                  <a:srgbClr val="4A6572"/>
                </a:solidFill>
                <a:latin typeface="Calibri" pitchFamily="34" charset="0"/>
                <a:ea typeface="Calibri" pitchFamily="34" charset="-122"/>
                <a:cs typeface="Calibri" pitchFamily="34" charset="-120"/>
              </a:rPr>
              <a:t>We use Logistic Regression as our core estimator due to its </a:t>
            </a:r>
            <a:pPr indent="0" marL="0">
              <a:buNone/>
            </a:pPr>
            <a:r>
              <a:rPr lang="en-US" sz="1300" b="1" dirty="0">
                <a:solidFill>
                  <a:srgbClr val="0A7E8C"/>
                </a:solidFill>
                <a:latin typeface="Calibri" pitchFamily="34" charset="0"/>
                <a:ea typeface="Calibri" pitchFamily="34" charset="-122"/>
                <a:cs typeface="Calibri" pitchFamily="34" charset="-120"/>
              </a:rPr>
              <a:t>interpretability</a:t>
            </a:r>
            <a:pPr indent="0" marL="0">
              <a:buNone/>
            </a:pPr>
            <a:r>
              <a:rPr lang="en-US" sz="1300" dirty="0">
                <a:solidFill>
                  <a:srgbClr val="4A6572"/>
                </a:solidFill>
                <a:latin typeface="Calibri" pitchFamily="34" charset="0"/>
                <a:ea typeface="Calibri" pitchFamily="34" charset="-122"/>
                <a:cs typeface="Calibri" pitchFamily="34" charset="-120"/>
              </a:rPr>
              <a:t> and computational efficiency.</a:t>
            </a:r>
            <a:endParaRPr lang="en-US" sz="1300" dirty="0"/>
          </a:p>
        </p:txBody>
      </p:sp>
      <p:sp>
        <p:nvSpPr>
          <p:cNvPr id="6" name="Shape 4"/>
          <p:cNvSpPr/>
          <p:nvPr/>
        </p:nvSpPr>
        <p:spPr>
          <a:xfrm>
            <a:off x="320040" y="1645920"/>
            <a:ext cx="4297680" cy="1005840"/>
          </a:xfrm>
          <a:prstGeom prst="rect">
            <a:avLst/>
          </a:prstGeom>
          <a:solidFill>
            <a:srgbClr val="0D1B2A"/>
          </a:solidFill>
          <a:ln w="19050">
            <a:solidFill>
              <a:srgbClr val="0A7E8C"/>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411480" y="1645920"/>
            <a:ext cx="4206240" cy="1005840"/>
          </a:xfrm>
          <a:prstGeom prst="rect">
            <a:avLst/>
          </a:prstGeom>
          <a:noFill/>
          <a:ln/>
        </p:spPr>
        <p:txBody>
          <a:bodyPr wrap="square" rtlCol="0" anchor="ctr"/>
          <a:lstStyle/>
          <a:p>
            <a:pPr algn="ctr" indent="0" marL="0">
              <a:buNone/>
            </a:pPr>
            <a:r>
              <a:rPr lang="en-US" sz="1600" i="1" dirty="0">
                <a:solidFill>
                  <a:srgbClr val="FFFFFF"/>
                </a:solidFill>
                <a:latin typeface="Consolas" pitchFamily="34" charset="0"/>
                <a:ea typeface="Consolas" pitchFamily="34" charset="-122"/>
                <a:cs typeface="Consolas" pitchFamily="34" charset="-120"/>
              </a:rPr>
              <a:t>P ( y = 1 | x )  =  1 / ( 1 + e^(−(β₀ + βᵀx)) )</a:t>
            </a:r>
            <a:endParaRPr lang="en-US" sz="1600" dirty="0"/>
          </a:p>
        </p:txBody>
      </p:sp>
      <p:sp>
        <p:nvSpPr>
          <p:cNvPr id="8" name="Shape 6"/>
          <p:cNvSpPr/>
          <p:nvPr/>
        </p:nvSpPr>
        <p:spPr>
          <a:xfrm>
            <a:off x="4892040" y="914400"/>
            <a:ext cx="3931920" cy="320040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4892040" y="914400"/>
            <a:ext cx="64008" cy="3200400"/>
          </a:xfrm>
          <a:prstGeom prst="rect">
            <a:avLst/>
          </a:prstGeom>
          <a:solidFill>
            <a:srgbClr val="0A7E8C"/>
          </a:solidFill>
          <a:ln w="12700">
            <a:solidFill>
              <a:srgbClr val="0A7E8C"/>
            </a:solidFill>
            <a:prstDash val="solid"/>
          </a:ln>
        </p:spPr>
      </p:sp>
      <p:sp>
        <p:nvSpPr>
          <p:cNvPr id="10" name="Text 8"/>
          <p:cNvSpPr/>
          <p:nvPr/>
        </p:nvSpPr>
        <p:spPr>
          <a:xfrm>
            <a:off x="5074920" y="1005840"/>
            <a:ext cx="3657600" cy="320040"/>
          </a:xfrm>
          <a:prstGeom prst="rect">
            <a:avLst/>
          </a:prstGeom>
          <a:noFill/>
          <a:ln/>
        </p:spPr>
        <p:txBody>
          <a:bodyPr wrap="square" lIns="0" tIns="0" rIns="0" bIns="0" rtlCol="0" anchor="ctr"/>
          <a:lstStyle/>
          <a:p>
            <a:pPr indent="0" marL="0">
              <a:buNone/>
            </a:pPr>
            <a:r>
              <a:rPr lang="en-US" sz="1400" b="1" dirty="0">
                <a:solidFill>
                  <a:srgbClr val="0A7E8C"/>
                </a:solidFill>
                <a:latin typeface="Calibri" pitchFamily="34" charset="0"/>
                <a:ea typeface="Calibri" pitchFamily="34" charset="-122"/>
                <a:cs typeface="Calibri" pitchFamily="34" charset="-120"/>
              </a:rPr>
              <a:t>Evaluation Metrics</a:t>
            </a:r>
            <a:endParaRPr lang="en-US" sz="1400" dirty="0"/>
          </a:p>
        </p:txBody>
      </p:sp>
      <p:sp>
        <p:nvSpPr>
          <p:cNvPr id="11" name="Shape 9"/>
          <p:cNvSpPr/>
          <p:nvPr/>
        </p:nvSpPr>
        <p:spPr>
          <a:xfrm>
            <a:off x="5074920" y="1463040"/>
            <a:ext cx="3566160" cy="713232"/>
          </a:xfrm>
          <a:prstGeom prst="roundRect">
            <a:avLst>
              <a:gd name="adj" fmla="val 7692"/>
            </a:avLst>
          </a:prstGeom>
          <a:solidFill>
            <a:srgbClr val="E0F5F7"/>
          </a:solidFill>
          <a:ln w="9525">
            <a:solidFill>
              <a:srgbClr val="12B5C5"/>
            </a:solidFill>
            <a:prstDash val="solid"/>
          </a:ln>
        </p:spPr>
      </p:sp>
      <p:sp>
        <p:nvSpPr>
          <p:cNvPr id="12" name="Text 10"/>
          <p:cNvSpPr/>
          <p:nvPr/>
        </p:nvSpPr>
        <p:spPr>
          <a:xfrm>
            <a:off x="5212080" y="1517904"/>
            <a:ext cx="3383280" cy="256032"/>
          </a:xfrm>
          <a:prstGeom prst="rect">
            <a:avLst/>
          </a:prstGeom>
          <a:noFill/>
          <a:ln/>
        </p:spPr>
        <p:txBody>
          <a:bodyPr wrap="square" lIns="0" tIns="0" rIns="0" bIns="0" rtlCol="0" anchor="ctr"/>
          <a:lstStyle/>
          <a:p>
            <a:pPr indent="0" marL="0">
              <a:buNone/>
            </a:pPr>
            <a:r>
              <a:rPr lang="en-US" sz="1250" b="1" dirty="0">
                <a:solidFill>
                  <a:srgbClr val="0A7E8C"/>
                </a:solidFill>
                <a:latin typeface="Calibri" pitchFamily="34" charset="0"/>
                <a:ea typeface="Calibri" pitchFamily="34" charset="-122"/>
                <a:cs typeface="Calibri" pitchFamily="34" charset="-120"/>
              </a:rPr>
              <a:t>Accuracy: </a:t>
            </a:r>
            <a:endParaRPr lang="en-US" sz="1250" dirty="0"/>
          </a:p>
        </p:txBody>
      </p:sp>
      <p:sp>
        <p:nvSpPr>
          <p:cNvPr id="13" name="Text 11"/>
          <p:cNvSpPr/>
          <p:nvPr/>
        </p:nvSpPr>
        <p:spPr>
          <a:xfrm>
            <a:off x="5212080" y="1773936"/>
            <a:ext cx="3383280" cy="347472"/>
          </a:xfrm>
          <a:prstGeom prst="rect">
            <a:avLst/>
          </a:prstGeom>
          <a:noFill/>
          <a:ln/>
        </p:spPr>
        <p:txBody>
          <a:bodyPr wrap="square" lIns="0" tIns="0" rIns="0" bIns="0" rtlCol="0" anchor="ctr"/>
          <a:lstStyle/>
          <a:p>
            <a:pPr indent="0" marL="0">
              <a:buNone/>
            </a:pPr>
            <a:r>
              <a:rPr lang="en-US" sz="1100" dirty="0">
                <a:solidFill>
                  <a:srgbClr val="4A6572"/>
                </a:solidFill>
                <a:latin typeface="Calibri" pitchFamily="34" charset="0"/>
                <a:ea typeface="Calibri" pitchFamily="34" charset="-122"/>
                <a:cs typeface="Calibri" pitchFamily="34" charset="-120"/>
              </a:rPr>
              <a:t>General correctness of the model's predictions across all classes.</a:t>
            </a:r>
            <a:endParaRPr lang="en-US" sz="1100" dirty="0"/>
          </a:p>
        </p:txBody>
      </p:sp>
      <p:sp>
        <p:nvSpPr>
          <p:cNvPr id="14" name="Shape 12"/>
          <p:cNvSpPr/>
          <p:nvPr/>
        </p:nvSpPr>
        <p:spPr>
          <a:xfrm>
            <a:off x="5074920" y="2286000"/>
            <a:ext cx="3566160" cy="713232"/>
          </a:xfrm>
          <a:prstGeom prst="roundRect">
            <a:avLst>
              <a:gd name="adj" fmla="val 7692"/>
            </a:avLst>
          </a:prstGeom>
          <a:solidFill>
            <a:srgbClr val="E0F5F7"/>
          </a:solidFill>
          <a:ln w="9525">
            <a:solidFill>
              <a:srgbClr val="12B5C5"/>
            </a:solidFill>
            <a:prstDash val="solid"/>
          </a:ln>
        </p:spPr>
      </p:sp>
      <p:sp>
        <p:nvSpPr>
          <p:cNvPr id="15" name="Text 13"/>
          <p:cNvSpPr/>
          <p:nvPr/>
        </p:nvSpPr>
        <p:spPr>
          <a:xfrm>
            <a:off x="5212080" y="2340864"/>
            <a:ext cx="3383280" cy="256032"/>
          </a:xfrm>
          <a:prstGeom prst="rect">
            <a:avLst/>
          </a:prstGeom>
          <a:noFill/>
          <a:ln/>
        </p:spPr>
        <p:txBody>
          <a:bodyPr wrap="square" lIns="0" tIns="0" rIns="0" bIns="0" rtlCol="0" anchor="ctr"/>
          <a:lstStyle/>
          <a:p>
            <a:pPr indent="0" marL="0">
              <a:buNone/>
            </a:pPr>
            <a:r>
              <a:rPr lang="en-US" sz="1250" b="1" dirty="0">
                <a:solidFill>
                  <a:srgbClr val="0A7E8C"/>
                </a:solidFill>
                <a:latin typeface="Calibri" pitchFamily="34" charset="0"/>
                <a:ea typeface="Calibri" pitchFamily="34" charset="-122"/>
                <a:cs typeface="Calibri" pitchFamily="34" charset="-120"/>
              </a:rPr>
              <a:t>F1-Score: </a:t>
            </a:r>
            <a:endParaRPr lang="en-US" sz="1250" dirty="0"/>
          </a:p>
        </p:txBody>
      </p:sp>
      <p:sp>
        <p:nvSpPr>
          <p:cNvPr id="16" name="Text 14"/>
          <p:cNvSpPr/>
          <p:nvPr/>
        </p:nvSpPr>
        <p:spPr>
          <a:xfrm>
            <a:off x="5212080" y="2596896"/>
            <a:ext cx="3383280" cy="347472"/>
          </a:xfrm>
          <a:prstGeom prst="rect">
            <a:avLst/>
          </a:prstGeom>
          <a:noFill/>
          <a:ln/>
        </p:spPr>
        <p:txBody>
          <a:bodyPr wrap="square" lIns="0" tIns="0" rIns="0" bIns="0" rtlCol="0" anchor="ctr"/>
          <a:lstStyle/>
          <a:p>
            <a:pPr indent="0" marL="0">
              <a:buNone/>
            </a:pPr>
            <a:r>
              <a:rPr lang="en-US" sz="1100" dirty="0">
                <a:solidFill>
                  <a:srgbClr val="4A6572"/>
                </a:solidFill>
                <a:latin typeface="Calibri" pitchFamily="34" charset="0"/>
                <a:ea typeface="Calibri" pitchFamily="34" charset="-122"/>
                <a:cs typeface="Calibri" pitchFamily="34" charset="-120"/>
              </a:rPr>
              <a:t>Harmonic mean of Precision and Recall, balancing both error types.</a:t>
            </a:r>
            <a:endParaRPr lang="en-US" sz="1100" dirty="0"/>
          </a:p>
        </p:txBody>
      </p:sp>
      <p:sp>
        <p:nvSpPr>
          <p:cNvPr id="17" name="Shape 15"/>
          <p:cNvSpPr/>
          <p:nvPr/>
        </p:nvSpPr>
        <p:spPr>
          <a:xfrm>
            <a:off x="5074920" y="3108960"/>
            <a:ext cx="3566160" cy="713232"/>
          </a:xfrm>
          <a:prstGeom prst="roundRect">
            <a:avLst>
              <a:gd name="adj" fmla="val 7692"/>
            </a:avLst>
          </a:prstGeom>
          <a:solidFill>
            <a:srgbClr val="E0F5F7"/>
          </a:solidFill>
          <a:ln w="9525">
            <a:solidFill>
              <a:srgbClr val="12B5C5"/>
            </a:solidFill>
            <a:prstDash val="solid"/>
          </a:ln>
        </p:spPr>
      </p:sp>
      <p:sp>
        <p:nvSpPr>
          <p:cNvPr id="18" name="Text 16"/>
          <p:cNvSpPr/>
          <p:nvPr/>
        </p:nvSpPr>
        <p:spPr>
          <a:xfrm>
            <a:off x="5212080" y="3163824"/>
            <a:ext cx="3383280" cy="256032"/>
          </a:xfrm>
          <a:prstGeom prst="rect">
            <a:avLst/>
          </a:prstGeom>
          <a:noFill/>
          <a:ln/>
        </p:spPr>
        <p:txBody>
          <a:bodyPr wrap="square" lIns="0" tIns="0" rIns="0" bIns="0" rtlCol="0" anchor="ctr"/>
          <a:lstStyle/>
          <a:p>
            <a:pPr indent="0" marL="0">
              <a:buNone/>
            </a:pPr>
            <a:r>
              <a:rPr lang="en-US" sz="1250" b="1" dirty="0">
                <a:solidFill>
                  <a:srgbClr val="0A7E8C"/>
                </a:solidFill>
                <a:latin typeface="Calibri" pitchFamily="34" charset="0"/>
                <a:ea typeface="Calibri" pitchFamily="34" charset="-122"/>
                <a:cs typeface="Calibri" pitchFamily="34" charset="-120"/>
              </a:rPr>
              <a:t>PR-AUC: </a:t>
            </a:r>
            <a:endParaRPr lang="en-US" sz="1250" dirty="0"/>
          </a:p>
        </p:txBody>
      </p:sp>
      <p:sp>
        <p:nvSpPr>
          <p:cNvPr id="19" name="Text 17"/>
          <p:cNvSpPr/>
          <p:nvPr/>
        </p:nvSpPr>
        <p:spPr>
          <a:xfrm>
            <a:off x="5212080" y="3419856"/>
            <a:ext cx="3383280" cy="347472"/>
          </a:xfrm>
          <a:prstGeom prst="rect">
            <a:avLst/>
          </a:prstGeom>
          <a:noFill/>
          <a:ln/>
        </p:spPr>
        <p:txBody>
          <a:bodyPr wrap="square" lIns="0" tIns="0" rIns="0" bIns="0" rtlCol="0" anchor="ctr"/>
          <a:lstStyle/>
          <a:p>
            <a:pPr indent="0" marL="0">
              <a:buNone/>
            </a:pPr>
            <a:r>
              <a:rPr lang="en-US" sz="1100" dirty="0">
                <a:solidFill>
                  <a:srgbClr val="4A6572"/>
                </a:solidFill>
                <a:latin typeface="Calibri" pitchFamily="34" charset="0"/>
                <a:ea typeface="Calibri" pitchFamily="34" charset="-122"/>
                <a:cs typeface="Calibri" pitchFamily="34" charset="-120"/>
              </a:rPr>
              <a:t>Area under the Precision-Recall curve. Crucial for severe class imbalance.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F0A500"/>
          </a:solidFill>
          <a:ln w="12700">
            <a:solidFill>
              <a:srgbClr val="F0A500"/>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4.  Underfitting vs. Overfitting</a:t>
            </a:r>
            <a:endParaRPr lang="en-US" sz="2200" dirty="0"/>
          </a:p>
        </p:txBody>
      </p:sp>
      <p:sp>
        <p:nvSpPr>
          <p:cNvPr id="5" name="Shape 3"/>
          <p:cNvSpPr/>
          <p:nvPr/>
        </p:nvSpPr>
        <p:spPr>
          <a:xfrm>
            <a:off x="320040" y="914400"/>
            <a:ext cx="4160520" cy="201168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914400"/>
            <a:ext cx="64008" cy="2011680"/>
          </a:xfrm>
          <a:prstGeom prst="rect">
            <a:avLst/>
          </a:prstGeom>
          <a:solidFill>
            <a:srgbClr val="F0A500"/>
          </a:solidFill>
          <a:ln w="12700">
            <a:solidFill>
              <a:srgbClr val="F0A500"/>
            </a:solidFill>
            <a:prstDash val="solid"/>
          </a:ln>
        </p:spPr>
      </p:sp>
      <p:sp>
        <p:nvSpPr>
          <p:cNvPr id="7" name="Text 5"/>
          <p:cNvSpPr/>
          <p:nvPr/>
        </p:nvSpPr>
        <p:spPr>
          <a:xfrm>
            <a:off x="457200" y="1024128"/>
            <a:ext cx="3977640" cy="274320"/>
          </a:xfrm>
          <a:prstGeom prst="rect">
            <a:avLst/>
          </a:prstGeom>
          <a:noFill/>
          <a:ln/>
        </p:spPr>
        <p:txBody>
          <a:bodyPr wrap="square" lIns="0" tIns="0" rIns="0" bIns="0" rtlCol="0" anchor="ctr"/>
          <a:lstStyle/>
          <a:p>
            <a:pPr indent="0" marL="0">
              <a:buNone/>
            </a:pPr>
            <a:r>
              <a:rPr lang="en-US" sz="1300" b="1" dirty="0">
                <a:solidFill>
                  <a:srgbClr val="F0A500"/>
                </a:solidFill>
                <a:latin typeface="Calibri" pitchFamily="34" charset="0"/>
                <a:ea typeface="Calibri" pitchFamily="34" charset="-122"/>
                <a:cs typeface="Calibri" pitchFamily="34" charset="-120"/>
              </a:rPr>
              <a:t>Scenario 1: Underfitting</a:t>
            </a:r>
            <a:endParaRPr lang="en-US" sz="1300" dirty="0"/>
          </a:p>
        </p:txBody>
      </p:sp>
      <p:sp>
        <p:nvSpPr>
          <p:cNvPr id="8" name="Text 6"/>
          <p:cNvSpPr/>
          <p:nvPr/>
        </p:nvSpPr>
        <p:spPr>
          <a:xfrm>
            <a:off x="457200" y="1344168"/>
            <a:ext cx="3931920" cy="150876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Cause: Extreme L2 Regularization (λ &gt; 1000) + Minimal Features.</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Effect: High error on both training and validation sets. Decision boundary is too simple to capture patterns.</a:t>
            </a:r>
            <a:endParaRPr lang="en-US" sz="1150" dirty="0"/>
          </a:p>
        </p:txBody>
      </p:sp>
      <p:sp>
        <p:nvSpPr>
          <p:cNvPr id="9" name="Shape 7"/>
          <p:cNvSpPr/>
          <p:nvPr/>
        </p:nvSpPr>
        <p:spPr>
          <a:xfrm>
            <a:off x="4663440" y="914400"/>
            <a:ext cx="4160520" cy="201168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663440" y="914400"/>
            <a:ext cx="64008" cy="2011680"/>
          </a:xfrm>
          <a:prstGeom prst="rect">
            <a:avLst/>
          </a:prstGeom>
          <a:solidFill>
            <a:srgbClr val="0A7E8C"/>
          </a:solidFill>
          <a:ln w="12700">
            <a:solidFill>
              <a:srgbClr val="0A7E8C"/>
            </a:solidFill>
            <a:prstDash val="solid"/>
          </a:ln>
        </p:spPr>
      </p:sp>
      <p:sp>
        <p:nvSpPr>
          <p:cNvPr id="11" name="Text 9"/>
          <p:cNvSpPr/>
          <p:nvPr/>
        </p:nvSpPr>
        <p:spPr>
          <a:xfrm>
            <a:off x="4800600" y="1024128"/>
            <a:ext cx="397764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Scenario 2: Overfitting</a:t>
            </a:r>
            <a:endParaRPr lang="en-US" sz="1300" dirty="0"/>
          </a:p>
        </p:txBody>
      </p:sp>
      <p:sp>
        <p:nvSpPr>
          <p:cNvPr id="12" name="Text 10"/>
          <p:cNvSpPr/>
          <p:nvPr/>
        </p:nvSpPr>
        <p:spPr>
          <a:xfrm>
            <a:off x="4800600" y="1344168"/>
            <a:ext cx="3931920" cy="150876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Cause: No Regularization + High-dimensional Raw Data.</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Effect: Near-zero training error but massive validation loss. Model captures noise instead of signal.</a:t>
            </a:r>
            <a:endParaRPr lang="en-US" sz="1150" dirty="0"/>
          </a:p>
        </p:txBody>
      </p:sp>
      <p:sp>
        <p:nvSpPr>
          <p:cNvPr id="13" name="Shape 11"/>
          <p:cNvSpPr/>
          <p:nvPr/>
        </p:nvSpPr>
        <p:spPr>
          <a:xfrm>
            <a:off x="320040" y="3063240"/>
            <a:ext cx="8503920" cy="68580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502920" y="3063240"/>
            <a:ext cx="8229600" cy="685800"/>
          </a:xfrm>
          <a:prstGeom prst="rect">
            <a:avLst/>
          </a:prstGeom>
          <a:noFill/>
          <a:ln/>
        </p:spPr>
        <p:txBody>
          <a:bodyPr wrap="square" rtlCol="0" anchor="ctr"/>
          <a:lstStyle/>
          <a:p>
            <a:pPr algn="ctr" indent="0" marL="0">
              <a:buNone/>
            </a:pPr>
            <a:r>
              <a:rPr lang="en-US" sz="1300" i="1" dirty="0">
                <a:solidFill>
                  <a:srgbClr val="12B5C5"/>
                </a:solidFill>
                <a:latin typeface="Calibri" pitchFamily="34" charset="0"/>
                <a:ea typeface="Calibri" pitchFamily="34" charset="-122"/>
                <a:cs typeface="Calibri" pitchFamily="34" charset="-120"/>
              </a:rPr>
              <a:t>Validation curves are used to identify the "Sweet Spot" where generalization is maximized.</a:t>
            </a:r>
            <a:endParaRPr lang="en-US" sz="1300" dirty="0"/>
          </a:p>
        </p:txBody>
      </p:sp>
      <p:sp>
        <p:nvSpPr>
          <p:cNvPr id="15" name="Shape 13"/>
          <p:cNvSpPr/>
          <p:nvPr/>
        </p:nvSpPr>
        <p:spPr>
          <a:xfrm>
            <a:off x="320040" y="3886200"/>
            <a:ext cx="3977640" cy="777240"/>
          </a:xfrm>
          <a:prstGeom prst="rect">
            <a:avLst/>
          </a:prstGeom>
          <a:solidFill>
            <a:srgbClr val="FFF3CD"/>
          </a:solidFill>
          <a:ln w="12700">
            <a:solidFill>
              <a:srgbClr val="F0A500"/>
            </a:solidFill>
            <a:prstDash val="solid"/>
          </a:ln>
        </p:spPr>
      </p:sp>
      <p:sp>
        <p:nvSpPr>
          <p:cNvPr id="16" name="Text 14"/>
          <p:cNvSpPr/>
          <p:nvPr/>
        </p:nvSpPr>
        <p:spPr>
          <a:xfrm>
            <a:off x="411480" y="3931920"/>
            <a:ext cx="3794760" cy="68580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High Bias / Low Variance</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(Too Simple)</a:t>
            </a:r>
            <a:endParaRPr lang="en-US" sz="1100" dirty="0"/>
          </a:p>
        </p:txBody>
      </p:sp>
      <p:sp>
        <p:nvSpPr>
          <p:cNvPr id="17" name="Shape 15"/>
          <p:cNvSpPr/>
          <p:nvPr/>
        </p:nvSpPr>
        <p:spPr>
          <a:xfrm>
            <a:off x="4846320" y="3886200"/>
            <a:ext cx="3977640" cy="777240"/>
          </a:xfrm>
          <a:prstGeom prst="rect">
            <a:avLst/>
          </a:prstGeom>
          <a:solidFill>
            <a:srgbClr val="D4EDDA"/>
          </a:solidFill>
          <a:ln w="12700">
            <a:solidFill>
              <a:srgbClr val="0A7E8C"/>
            </a:solidFill>
            <a:prstDash val="solid"/>
          </a:ln>
        </p:spPr>
      </p:sp>
      <p:sp>
        <p:nvSpPr>
          <p:cNvPr id="18" name="Text 16"/>
          <p:cNvSpPr/>
          <p:nvPr/>
        </p:nvSpPr>
        <p:spPr>
          <a:xfrm>
            <a:off x="4937760" y="3931920"/>
            <a:ext cx="3794760" cy="685800"/>
          </a:xfrm>
          <a:prstGeom prst="rect">
            <a:avLst/>
          </a:prstGeom>
          <a:noFill/>
          <a:ln/>
        </p:spPr>
        <p:txBody>
          <a:bodyPr wrap="square" rtlCol="0" anchor="ctr"/>
          <a:lstStyle/>
          <a:p>
            <a:pPr algn="ctr" indent="0" marL="0">
              <a:buNone/>
            </a:pPr>
            <a:r>
              <a:rPr lang="en-US" sz="1100" dirty="0">
                <a:solidFill>
                  <a:srgbClr val="0D1B2A"/>
                </a:solidFill>
                <a:latin typeface="Calibri" pitchFamily="34" charset="0"/>
                <a:ea typeface="Calibri" pitchFamily="34" charset="-122"/>
                <a:cs typeface="Calibri" pitchFamily="34" charset="-120"/>
              </a:rPr>
              <a:t>Low Bias / High Variance</a:t>
            </a:r>
            <a:endParaRPr lang="en-US" sz="1100" dirty="0"/>
          </a:p>
          <a:p>
            <a:pPr algn="ctr" indent="0" marL="0">
              <a:buNone/>
            </a:pPr>
            <a:r>
              <a:rPr lang="en-US" sz="1100" dirty="0">
                <a:solidFill>
                  <a:srgbClr val="0D1B2A"/>
                </a:solidFill>
                <a:latin typeface="Calibri" pitchFamily="34" charset="0"/>
                <a:ea typeface="Calibri" pitchFamily="34" charset="-122"/>
                <a:cs typeface="Calibri" pitchFamily="34" charset="-120"/>
              </a:rPr>
              <a:t>(Too Complex)</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5.  Regularization Study</a:t>
            </a:r>
            <a:endParaRPr lang="en-US" sz="2200" dirty="0"/>
          </a:p>
        </p:txBody>
      </p:sp>
      <p:sp>
        <p:nvSpPr>
          <p:cNvPr id="5" name="Shape 3"/>
          <p:cNvSpPr/>
          <p:nvPr/>
        </p:nvSpPr>
        <p:spPr>
          <a:xfrm>
            <a:off x="320040" y="868680"/>
            <a:ext cx="8503920" cy="777240"/>
          </a:xfrm>
          <a:prstGeom prst="rect">
            <a:avLst/>
          </a:prstGeom>
          <a:solidFill>
            <a:srgbClr val="0D1B2A"/>
          </a:solidFill>
          <a:ln w="19050">
            <a:solidFill>
              <a:srgbClr val="0A7E8C"/>
            </a:solidFill>
            <a:prstDash val="solid"/>
          </a:ln>
          <a:effectLst>
            <a:outerShdw sx="100000" sy="100000" kx="0" ky="0" algn="bl" rotWithShape="0" blurRad="101600" dist="38100" dir="8100000">
              <a:srgbClr val="000000">
                <a:alpha val="10000"/>
              </a:srgbClr>
            </a:outerShdw>
          </a:effectLst>
        </p:spPr>
      </p:sp>
      <p:sp>
        <p:nvSpPr>
          <p:cNvPr id="6" name="Text 4"/>
          <p:cNvSpPr/>
          <p:nvPr/>
        </p:nvSpPr>
        <p:spPr>
          <a:xfrm>
            <a:off x="411480" y="868680"/>
            <a:ext cx="8321040" cy="777240"/>
          </a:xfrm>
          <a:prstGeom prst="rect">
            <a:avLst/>
          </a:prstGeom>
          <a:noFill/>
          <a:ln/>
        </p:spPr>
        <p:txBody>
          <a:bodyPr wrap="square" rtlCol="0" anchor="ctr"/>
          <a:lstStyle/>
          <a:p>
            <a:pPr algn="ctr" indent="0" marL="0">
              <a:buNone/>
            </a:pPr>
            <a:r>
              <a:rPr lang="en-US" sz="1800" i="1" dirty="0">
                <a:solidFill>
                  <a:srgbClr val="FFFFFF"/>
                </a:solidFill>
                <a:latin typeface="Consolas" pitchFamily="34" charset="0"/>
                <a:ea typeface="Consolas" pitchFamily="34" charset="-122"/>
                <a:cs typeface="Consolas" pitchFamily="34" charset="-120"/>
              </a:rPr>
              <a:t>J(W, b)  =  (1/m) Σ L( ŷ⁽ⁱ⁾, y⁽ⁱ⁾ )  +  (λ/2m) ‖W‖²₂</a:t>
            </a:r>
            <a:endParaRPr lang="en-US" sz="1800" dirty="0"/>
          </a:p>
        </p:txBody>
      </p:sp>
      <p:sp>
        <p:nvSpPr>
          <p:cNvPr id="7" name="Shape 5"/>
          <p:cNvSpPr/>
          <p:nvPr/>
        </p:nvSpPr>
        <p:spPr>
          <a:xfrm>
            <a:off x="320040" y="1828800"/>
            <a:ext cx="2743200" cy="274320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20040" y="1828800"/>
            <a:ext cx="64008" cy="2743200"/>
          </a:xfrm>
          <a:prstGeom prst="rect">
            <a:avLst/>
          </a:prstGeom>
          <a:solidFill>
            <a:srgbClr val="0A7E8C"/>
          </a:solidFill>
          <a:ln w="12700">
            <a:solidFill>
              <a:srgbClr val="0A7E8C"/>
            </a:solidFill>
            <a:prstDash val="solid"/>
          </a:ln>
        </p:spPr>
      </p:sp>
      <p:sp>
        <p:nvSpPr>
          <p:cNvPr id="9" name="Text 7"/>
          <p:cNvSpPr/>
          <p:nvPr/>
        </p:nvSpPr>
        <p:spPr>
          <a:xfrm>
            <a:off x="457200" y="19385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L1  (Lasso)</a:t>
            </a:r>
            <a:endParaRPr lang="en-US" sz="1300" dirty="0"/>
          </a:p>
        </p:txBody>
      </p:sp>
      <p:sp>
        <p:nvSpPr>
          <p:cNvPr id="10" name="Text 8"/>
          <p:cNvSpPr/>
          <p:nvPr/>
        </p:nvSpPr>
        <p:spPr>
          <a:xfrm>
            <a:off x="457200" y="2258568"/>
            <a:ext cx="2514600" cy="224028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Induces Sparsity. Automatically selects focal EEG channels by zeroing out non-essential feature weights.</a:t>
            </a:r>
            <a:endParaRPr lang="en-US" sz="1150" dirty="0"/>
          </a:p>
        </p:txBody>
      </p:sp>
      <p:sp>
        <p:nvSpPr>
          <p:cNvPr id="11" name="Shape 9"/>
          <p:cNvSpPr/>
          <p:nvPr/>
        </p:nvSpPr>
        <p:spPr>
          <a:xfrm>
            <a:off x="3246120" y="1828800"/>
            <a:ext cx="2743200" cy="274320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246120" y="1828800"/>
            <a:ext cx="64008" cy="2743200"/>
          </a:xfrm>
          <a:prstGeom prst="rect">
            <a:avLst/>
          </a:prstGeom>
          <a:solidFill>
            <a:srgbClr val="0A7E8C"/>
          </a:solidFill>
          <a:ln w="12700">
            <a:solidFill>
              <a:srgbClr val="0A7E8C"/>
            </a:solidFill>
            <a:prstDash val="solid"/>
          </a:ln>
        </p:spPr>
      </p:sp>
      <p:sp>
        <p:nvSpPr>
          <p:cNvPr id="13" name="Text 11"/>
          <p:cNvSpPr/>
          <p:nvPr/>
        </p:nvSpPr>
        <p:spPr>
          <a:xfrm>
            <a:off x="3383280" y="19385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L2  (Ridge)</a:t>
            </a:r>
            <a:endParaRPr lang="en-US" sz="1300" dirty="0"/>
          </a:p>
        </p:txBody>
      </p:sp>
      <p:sp>
        <p:nvSpPr>
          <p:cNvPr id="14" name="Text 12"/>
          <p:cNvSpPr/>
          <p:nvPr/>
        </p:nvSpPr>
        <p:spPr>
          <a:xfrm>
            <a:off x="3383280" y="2258568"/>
            <a:ext cx="2514600" cy="224028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Provides Stability. Shrinks weights uniformly — handles correlated electrode data effectively.</a:t>
            </a:r>
            <a:endParaRPr lang="en-US" sz="1150" dirty="0"/>
          </a:p>
        </p:txBody>
      </p:sp>
      <p:sp>
        <p:nvSpPr>
          <p:cNvPr id="15" name="Shape 13"/>
          <p:cNvSpPr/>
          <p:nvPr/>
        </p:nvSpPr>
        <p:spPr>
          <a:xfrm>
            <a:off x="6172200" y="1828800"/>
            <a:ext cx="2743200" cy="274320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6172200" y="1828800"/>
            <a:ext cx="64008" cy="2743200"/>
          </a:xfrm>
          <a:prstGeom prst="rect">
            <a:avLst/>
          </a:prstGeom>
          <a:solidFill>
            <a:srgbClr val="F0A500"/>
          </a:solidFill>
          <a:ln w="12700">
            <a:solidFill>
              <a:srgbClr val="F0A500"/>
            </a:solidFill>
            <a:prstDash val="solid"/>
          </a:ln>
        </p:spPr>
      </p:sp>
      <p:sp>
        <p:nvSpPr>
          <p:cNvPr id="17" name="Text 15"/>
          <p:cNvSpPr/>
          <p:nvPr/>
        </p:nvSpPr>
        <p:spPr>
          <a:xfrm>
            <a:off x="6309360" y="1938528"/>
            <a:ext cx="2560320" cy="274320"/>
          </a:xfrm>
          <a:prstGeom prst="rect">
            <a:avLst/>
          </a:prstGeom>
          <a:noFill/>
          <a:ln/>
        </p:spPr>
        <p:txBody>
          <a:bodyPr wrap="square" lIns="0" tIns="0" rIns="0" bIns="0" rtlCol="0" anchor="ctr"/>
          <a:lstStyle/>
          <a:p>
            <a:pPr indent="0" marL="0">
              <a:buNone/>
            </a:pPr>
            <a:r>
              <a:rPr lang="en-US" sz="1300" b="1" dirty="0">
                <a:solidFill>
                  <a:srgbClr val="F0A500"/>
                </a:solidFill>
                <a:latin typeface="Calibri" pitchFamily="34" charset="0"/>
                <a:ea typeface="Calibri" pitchFamily="34" charset="-122"/>
                <a:cs typeface="Calibri" pitchFamily="34" charset="-120"/>
              </a:rPr>
              <a:t>Elastic Net</a:t>
            </a:r>
            <a:endParaRPr lang="en-US" sz="1300" dirty="0"/>
          </a:p>
        </p:txBody>
      </p:sp>
      <p:sp>
        <p:nvSpPr>
          <p:cNvPr id="18" name="Text 16"/>
          <p:cNvSpPr/>
          <p:nvPr/>
        </p:nvSpPr>
        <p:spPr>
          <a:xfrm>
            <a:off x="6309360" y="2258568"/>
            <a:ext cx="2514600" cy="224028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Combines L1 + L2. Best for datasets with grouped correlations among features (high collinearity).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6.  Handling Class Imbalance</a:t>
            </a:r>
            <a:endParaRPr lang="en-US" sz="2200" dirty="0"/>
          </a:p>
        </p:txBody>
      </p:sp>
      <p:sp>
        <p:nvSpPr>
          <p:cNvPr id="5" name="Shape 3"/>
          <p:cNvSpPr/>
          <p:nvPr/>
        </p:nvSpPr>
        <p:spPr>
          <a:xfrm>
            <a:off x="320040" y="914400"/>
            <a:ext cx="4160520" cy="21945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914400"/>
            <a:ext cx="64008" cy="2194560"/>
          </a:xfrm>
          <a:prstGeom prst="rect">
            <a:avLst/>
          </a:prstGeom>
          <a:solidFill>
            <a:srgbClr val="0A7E8C"/>
          </a:solidFill>
          <a:ln w="12700">
            <a:solidFill>
              <a:srgbClr val="0A7E8C"/>
            </a:solidFill>
            <a:prstDash val="solid"/>
          </a:ln>
        </p:spPr>
      </p:sp>
      <p:sp>
        <p:nvSpPr>
          <p:cNvPr id="7" name="Text 5"/>
          <p:cNvSpPr/>
          <p:nvPr/>
        </p:nvSpPr>
        <p:spPr>
          <a:xfrm>
            <a:off x="457200" y="1024128"/>
            <a:ext cx="397764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SMOTE / Oversampling</a:t>
            </a:r>
            <a:endParaRPr lang="en-US" sz="1300" dirty="0"/>
          </a:p>
        </p:txBody>
      </p:sp>
      <p:sp>
        <p:nvSpPr>
          <p:cNvPr id="8" name="Text 6"/>
          <p:cNvSpPr/>
          <p:nvPr/>
        </p:nvSpPr>
        <p:spPr>
          <a:xfrm>
            <a:off x="457200" y="1344168"/>
            <a:ext cx="3931920" cy="16916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Creates synthetic seizure samples in the feature space.</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Risk: Can introduce synthetic noise and artifacts that distort true EEG patterns.</a:t>
            </a:r>
            <a:endParaRPr lang="en-US" sz="1150" dirty="0"/>
          </a:p>
        </p:txBody>
      </p:sp>
      <p:sp>
        <p:nvSpPr>
          <p:cNvPr id="9" name="Shape 7"/>
          <p:cNvSpPr/>
          <p:nvPr/>
        </p:nvSpPr>
        <p:spPr>
          <a:xfrm>
            <a:off x="4663440" y="914400"/>
            <a:ext cx="4160520" cy="21945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663440" y="914400"/>
            <a:ext cx="64008" cy="2194560"/>
          </a:xfrm>
          <a:prstGeom prst="rect">
            <a:avLst/>
          </a:prstGeom>
          <a:solidFill>
            <a:srgbClr val="F0A500"/>
          </a:solidFill>
          <a:ln w="12700">
            <a:solidFill>
              <a:srgbClr val="F0A500"/>
            </a:solidFill>
            <a:prstDash val="solid"/>
          </a:ln>
        </p:spPr>
      </p:sp>
      <p:sp>
        <p:nvSpPr>
          <p:cNvPr id="11" name="Text 9"/>
          <p:cNvSpPr/>
          <p:nvPr/>
        </p:nvSpPr>
        <p:spPr>
          <a:xfrm>
            <a:off x="4800600" y="1024128"/>
            <a:ext cx="3977640" cy="274320"/>
          </a:xfrm>
          <a:prstGeom prst="rect">
            <a:avLst/>
          </a:prstGeom>
          <a:noFill/>
          <a:ln/>
        </p:spPr>
        <p:txBody>
          <a:bodyPr wrap="square" lIns="0" tIns="0" rIns="0" bIns="0" rtlCol="0" anchor="ctr"/>
          <a:lstStyle/>
          <a:p>
            <a:pPr indent="0" marL="0">
              <a:buNone/>
            </a:pPr>
            <a:r>
              <a:rPr lang="en-US" sz="1300" b="1" dirty="0">
                <a:solidFill>
                  <a:srgbClr val="F0A500"/>
                </a:solidFill>
                <a:latin typeface="Calibri" pitchFamily="34" charset="0"/>
                <a:ea typeface="Calibri" pitchFamily="34" charset="-122"/>
                <a:cs typeface="Calibri" pitchFamily="34" charset="-120"/>
              </a:rPr>
              <a:t>Class Weighting</a:t>
            </a:r>
            <a:endParaRPr lang="en-US" sz="1300" dirty="0"/>
          </a:p>
        </p:txBody>
      </p:sp>
      <p:sp>
        <p:nvSpPr>
          <p:cNvPr id="12" name="Text 10"/>
          <p:cNvSpPr/>
          <p:nvPr/>
        </p:nvSpPr>
        <p:spPr>
          <a:xfrm>
            <a:off x="4800600" y="1344168"/>
            <a:ext cx="3931920" cy="16916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Heavily penalizes minority class (seizure) misclassifications within the loss function.</a:t>
            </a:r>
            <a:endParaRPr lang="en-US" sz="1150" dirty="0"/>
          </a:p>
          <a:p>
            <a:pPr indent="0" marL="0">
              <a:buNone/>
            </a:pPr>
            <a:endParaRPr lang="en-US" sz="1150" dirty="0"/>
          </a:p>
          <a:p>
            <a:pPr indent="0" marL="0">
              <a:buNone/>
            </a:pPr>
            <a:r>
              <a:rPr lang="en-US" sz="1150" dirty="0">
                <a:solidFill>
                  <a:srgbClr val="0D1B2A"/>
                </a:solidFill>
                <a:latin typeface="Calibri" pitchFamily="34" charset="0"/>
                <a:ea typeface="Calibri" pitchFamily="34" charset="-122"/>
                <a:cs typeface="Calibri" pitchFamily="34" charset="-120"/>
              </a:rPr>
              <a:t>Benefit: Maintains original signal integrity without generating synthetic data.</a:t>
            </a:r>
            <a:endParaRPr lang="en-US" sz="1150" dirty="0"/>
          </a:p>
        </p:txBody>
      </p:sp>
      <p:sp>
        <p:nvSpPr>
          <p:cNvPr id="13" name="Shape 11"/>
          <p:cNvSpPr/>
          <p:nvPr/>
        </p:nvSpPr>
        <p:spPr>
          <a:xfrm>
            <a:off x="320040" y="3246120"/>
            <a:ext cx="8503920" cy="914400"/>
          </a:xfrm>
          <a:prstGeom prst="rect">
            <a:avLst/>
          </a:prstGeom>
          <a:solidFill>
            <a:srgbClr val="0D1B2A"/>
          </a:solidFill>
          <a:ln w="19050">
            <a:solidFill>
              <a:srgbClr val="0A7E8C"/>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502920" y="3246120"/>
            <a:ext cx="8229600" cy="914400"/>
          </a:xfrm>
          <a:prstGeom prst="rect">
            <a:avLst/>
          </a:prstGeom>
          <a:noFill/>
          <a:ln/>
        </p:spPr>
        <p:txBody>
          <a:bodyPr wrap="square" rtlCol="0" anchor="ctr"/>
          <a:lstStyle/>
          <a:p>
            <a:pPr algn="ctr" indent="0" marL="0">
              <a:buNone/>
            </a:pPr>
            <a:r>
              <a:rPr lang="en-US" sz="1250" b="1" dirty="0">
                <a:solidFill>
                  <a:srgbClr val="12B5C5"/>
                </a:solidFill>
                <a:latin typeface="Calibri" pitchFamily="34" charset="0"/>
                <a:ea typeface="Calibri" pitchFamily="34" charset="-122"/>
                <a:cs typeface="Calibri" pitchFamily="34" charset="-120"/>
              </a:rPr>
              <a:t>PR-AUC</a:t>
            </a:r>
            <a:pPr algn="ctr" indent="0" marL="0">
              <a:buNone/>
            </a:pPr>
            <a:r>
              <a:rPr lang="en-US" sz="1250" dirty="0">
                <a:solidFill>
                  <a:srgbClr val="FFFFFF"/>
                </a:solidFill>
                <a:latin typeface="Calibri" pitchFamily="34" charset="0"/>
                <a:ea typeface="Calibri" pitchFamily="34" charset="-122"/>
                <a:cs typeface="Calibri" pitchFamily="34" charset="-120"/>
              </a:rPr>
              <a:t>  evaluates the Precision vs. Recall tradeoff without being fooled by high Accuracy on the majority class — the gold standard metric for imbalanced medical datasets.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685800"/>
            <a:ext cx="9144000" cy="45720"/>
          </a:xfrm>
          <a:prstGeom prst="rect">
            <a:avLst/>
          </a:prstGeom>
          <a:solidFill>
            <a:srgbClr val="0A7E8C"/>
          </a:solidFill>
          <a:ln w="12700">
            <a:solidFill>
              <a:srgbClr val="0A7E8C"/>
            </a:solidFill>
            <a:prstDash val="solid"/>
          </a:ln>
        </p:spPr>
      </p:sp>
      <p:sp>
        <p:nvSpPr>
          <p:cNvPr id="4" name="Text 2"/>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7.  Comparative Analysis</a:t>
            </a:r>
            <a:endParaRPr lang="en-US" sz="2200" dirty="0"/>
          </a:p>
        </p:txBody>
      </p:sp>
      <p:sp>
        <p:nvSpPr>
          <p:cNvPr id="5" name="Shape 3"/>
          <p:cNvSpPr/>
          <p:nvPr/>
        </p:nvSpPr>
        <p:spPr>
          <a:xfrm>
            <a:off x="320040" y="914400"/>
            <a:ext cx="2743200" cy="19659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20040" y="914400"/>
            <a:ext cx="64008" cy="1965960"/>
          </a:xfrm>
          <a:prstGeom prst="rect">
            <a:avLst/>
          </a:prstGeom>
          <a:solidFill>
            <a:srgbClr val="0A7E8C"/>
          </a:solidFill>
          <a:ln w="12700">
            <a:solidFill>
              <a:srgbClr val="0A7E8C"/>
            </a:solidFill>
            <a:prstDash val="solid"/>
          </a:ln>
        </p:spPr>
      </p:sp>
      <p:sp>
        <p:nvSpPr>
          <p:cNvPr id="7" name="Text 5"/>
          <p:cNvSpPr/>
          <p:nvPr/>
        </p:nvSpPr>
        <p:spPr>
          <a:xfrm>
            <a:off x="45720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Preprocessing Order</a:t>
            </a:r>
            <a:endParaRPr lang="en-US" sz="1300" dirty="0"/>
          </a:p>
        </p:txBody>
      </p:sp>
      <p:sp>
        <p:nvSpPr>
          <p:cNvPr id="8" name="Text 6"/>
          <p:cNvSpPr/>
          <p:nvPr/>
        </p:nvSpPr>
        <p:spPr>
          <a:xfrm>
            <a:off x="457200" y="1344168"/>
            <a:ext cx="2514600" cy="14630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YES. Noise removal must precede scaling to prevent artifact-driven variance inflation across channels.</a:t>
            </a:r>
            <a:endParaRPr lang="en-US" sz="1150" dirty="0"/>
          </a:p>
        </p:txBody>
      </p:sp>
      <p:sp>
        <p:nvSpPr>
          <p:cNvPr id="9" name="Shape 7"/>
          <p:cNvSpPr/>
          <p:nvPr/>
        </p:nvSpPr>
        <p:spPr>
          <a:xfrm>
            <a:off x="3246120" y="914400"/>
            <a:ext cx="2743200" cy="19659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246120" y="914400"/>
            <a:ext cx="64008" cy="1965960"/>
          </a:xfrm>
          <a:prstGeom prst="rect">
            <a:avLst/>
          </a:prstGeom>
          <a:solidFill>
            <a:srgbClr val="0A7E8C"/>
          </a:solidFill>
          <a:ln w="12700">
            <a:solidFill>
              <a:srgbClr val="0A7E8C"/>
            </a:solidFill>
            <a:prstDash val="solid"/>
          </a:ln>
        </p:spPr>
      </p:sp>
      <p:sp>
        <p:nvSpPr>
          <p:cNvPr id="11" name="Text 9"/>
          <p:cNvSpPr/>
          <p:nvPr/>
        </p:nvSpPr>
        <p:spPr>
          <a:xfrm>
            <a:off x="338328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Top Generalizer</a:t>
            </a:r>
            <a:endParaRPr lang="en-US" sz="1300" dirty="0"/>
          </a:p>
        </p:txBody>
      </p:sp>
      <p:sp>
        <p:nvSpPr>
          <p:cNvPr id="12" name="Text 10"/>
          <p:cNvSpPr/>
          <p:nvPr/>
        </p:nvSpPr>
        <p:spPr>
          <a:xfrm>
            <a:off x="3383280" y="1344168"/>
            <a:ext cx="2514600" cy="14630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L2 Regularization generalized best cross-patient due to its stable weight distribution.</a:t>
            </a:r>
            <a:endParaRPr lang="en-US" sz="1150" dirty="0"/>
          </a:p>
        </p:txBody>
      </p:sp>
      <p:sp>
        <p:nvSpPr>
          <p:cNvPr id="13" name="Shape 11"/>
          <p:cNvSpPr/>
          <p:nvPr/>
        </p:nvSpPr>
        <p:spPr>
          <a:xfrm>
            <a:off x="6172200" y="914400"/>
            <a:ext cx="2743200" cy="1965960"/>
          </a:xfrm>
          <a:prstGeom prst="rect">
            <a:avLst/>
          </a:prstGeom>
          <a:solidFill>
            <a:srgbClr val="FFFFFF"/>
          </a:solidFill>
          <a:ln w="12700">
            <a:solidFill>
              <a:srgbClr val="E8EE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6172200" y="914400"/>
            <a:ext cx="64008" cy="1965960"/>
          </a:xfrm>
          <a:prstGeom prst="rect">
            <a:avLst/>
          </a:prstGeom>
          <a:solidFill>
            <a:srgbClr val="0A7E8C"/>
          </a:solidFill>
          <a:ln w="12700">
            <a:solidFill>
              <a:srgbClr val="0A7E8C"/>
            </a:solidFill>
            <a:prstDash val="solid"/>
          </a:ln>
        </p:spPr>
      </p:sp>
      <p:sp>
        <p:nvSpPr>
          <p:cNvPr id="15" name="Text 13"/>
          <p:cNvSpPr/>
          <p:nvPr/>
        </p:nvSpPr>
        <p:spPr>
          <a:xfrm>
            <a:off x="6309360" y="1024128"/>
            <a:ext cx="2560320" cy="274320"/>
          </a:xfrm>
          <a:prstGeom prst="rect">
            <a:avLst/>
          </a:prstGeom>
          <a:noFill/>
          <a:ln/>
        </p:spPr>
        <p:txBody>
          <a:bodyPr wrap="square" lIns="0" tIns="0" rIns="0" bIns="0" rtlCol="0" anchor="ctr"/>
          <a:lstStyle/>
          <a:p>
            <a:pPr indent="0" marL="0">
              <a:buNone/>
            </a:pPr>
            <a:r>
              <a:rPr lang="en-US" sz="1300" b="1" dirty="0">
                <a:solidFill>
                  <a:srgbClr val="0A7E8C"/>
                </a:solidFill>
                <a:latin typeface="Calibri" pitchFamily="34" charset="0"/>
                <a:ea typeface="Calibri" pitchFamily="34" charset="-122"/>
                <a:cs typeface="Calibri" pitchFamily="34" charset="-120"/>
              </a:rPr>
              <a:t>Elastic Net</a:t>
            </a:r>
            <a:endParaRPr lang="en-US" sz="1300" dirty="0"/>
          </a:p>
        </p:txBody>
      </p:sp>
      <p:sp>
        <p:nvSpPr>
          <p:cNvPr id="16" name="Text 14"/>
          <p:cNvSpPr/>
          <p:nvPr/>
        </p:nvSpPr>
        <p:spPr>
          <a:xfrm>
            <a:off x="6309360" y="1344168"/>
            <a:ext cx="2514600" cy="1463040"/>
          </a:xfrm>
          <a:prstGeom prst="rect">
            <a:avLst/>
          </a:prstGeom>
          <a:noFill/>
          <a:ln/>
        </p:spPr>
        <p:txBody>
          <a:bodyPr wrap="square" rtlCol="0" anchor="t"/>
          <a:lstStyle/>
          <a:p>
            <a:pPr indent="0" marL="0">
              <a:buNone/>
            </a:pPr>
            <a:r>
              <a:rPr lang="en-US" sz="1150" dirty="0">
                <a:solidFill>
                  <a:srgbClr val="0D1B2A"/>
                </a:solidFill>
                <a:latin typeface="Calibri" pitchFamily="34" charset="0"/>
                <a:ea typeface="Calibri" pitchFamily="34" charset="-122"/>
                <a:cs typeface="Calibri" pitchFamily="34" charset="-120"/>
              </a:rPr>
              <a:t>Outperforms L1/L2 only in feature-extracted pipelines where inter-feature collinearity is high.</a:t>
            </a:r>
            <a:endParaRPr lang="en-US" sz="1150" dirty="0"/>
          </a:p>
        </p:txBody>
      </p:sp>
      <p:sp>
        <p:nvSpPr>
          <p:cNvPr id="17" name="Shape 15"/>
          <p:cNvSpPr/>
          <p:nvPr/>
        </p:nvSpPr>
        <p:spPr>
          <a:xfrm>
            <a:off x="320040" y="3017520"/>
            <a:ext cx="8503920" cy="1645920"/>
          </a:xfrm>
          <a:prstGeom prst="rect">
            <a:avLst/>
          </a:prstGeom>
          <a:solidFill>
            <a:srgbClr val="E6F4F7"/>
          </a:solidFill>
          <a:ln w="19050">
            <a:solidFill>
              <a:srgbClr val="0A7E8C"/>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20040" y="3017520"/>
            <a:ext cx="64008" cy="1645920"/>
          </a:xfrm>
          <a:prstGeom prst="rect">
            <a:avLst/>
          </a:prstGeom>
          <a:solidFill>
            <a:srgbClr val="0A7E8C"/>
          </a:solidFill>
          <a:ln w="12700">
            <a:solidFill>
              <a:srgbClr val="0A7E8C"/>
            </a:solidFill>
            <a:prstDash val="solid"/>
          </a:ln>
        </p:spPr>
      </p:sp>
      <p:sp>
        <p:nvSpPr>
          <p:cNvPr id="19" name="Text 17"/>
          <p:cNvSpPr/>
          <p:nvPr/>
        </p:nvSpPr>
        <p:spPr>
          <a:xfrm>
            <a:off x="502920" y="3108960"/>
            <a:ext cx="8229600" cy="320040"/>
          </a:xfrm>
          <a:prstGeom prst="rect">
            <a:avLst/>
          </a:prstGeom>
          <a:noFill/>
          <a:ln/>
        </p:spPr>
        <p:txBody>
          <a:bodyPr wrap="square" lIns="0" tIns="0" rIns="0" bIns="0" rtlCol="0" anchor="ctr"/>
          <a:lstStyle/>
          <a:p>
            <a:pPr indent="0" marL="0">
              <a:buNone/>
            </a:pPr>
            <a:r>
              <a:rPr lang="en-US" sz="1400" b="1" dirty="0">
                <a:solidFill>
                  <a:srgbClr val="0A7E8C"/>
                </a:solidFill>
                <a:latin typeface="Calibri" pitchFamily="34" charset="0"/>
                <a:ea typeface="Calibri" pitchFamily="34" charset="-122"/>
                <a:cs typeface="Calibri" pitchFamily="34" charset="-120"/>
              </a:rPr>
              <a:t>Interaction: Imbalance &amp; Regularization</a:t>
            </a:r>
            <a:endParaRPr lang="en-US" sz="1400" dirty="0"/>
          </a:p>
        </p:txBody>
      </p:sp>
      <p:sp>
        <p:nvSpPr>
          <p:cNvPr id="20" name="Text 18"/>
          <p:cNvSpPr/>
          <p:nvPr/>
        </p:nvSpPr>
        <p:spPr>
          <a:xfrm>
            <a:off x="502920" y="3474720"/>
            <a:ext cx="8229600" cy="109728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Class Weighting paired with L2 Regularization provides the most stable decision boundaries for clinical EEG data. This combination avoids synthetic artifacts while ensuring minority class (ictal) patterns are not overwhelmed by the majority.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8C"/>
          </a:solidFill>
          <a:ln w="12700">
            <a:solidFill>
              <a:srgbClr val="0A7E8C"/>
            </a:solidFill>
            <a:prstDash val="solid"/>
          </a:ln>
        </p:spPr>
      </p:sp>
      <p:sp>
        <p:nvSpPr>
          <p:cNvPr id="3" name="Shape 1"/>
          <p:cNvSpPr/>
          <p:nvPr/>
        </p:nvSpPr>
        <p:spPr>
          <a:xfrm>
            <a:off x="164592" y="0"/>
            <a:ext cx="54864" cy="5143500"/>
          </a:xfrm>
          <a:prstGeom prst="rect">
            <a:avLst/>
          </a:prstGeom>
          <a:solidFill>
            <a:srgbClr val="F0A500"/>
          </a:solidFill>
          <a:ln w="12700">
            <a:solidFill>
              <a:srgbClr val="F0A500"/>
            </a:solidFill>
            <a:prstDash val="solid"/>
          </a:ln>
        </p:spPr>
      </p:sp>
      <p:sp>
        <p:nvSpPr>
          <p:cNvPr id="4" name="Text 2"/>
          <p:cNvSpPr/>
          <p:nvPr/>
        </p:nvSpPr>
        <p:spPr>
          <a:xfrm>
            <a:off x="50292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&amp; Recommendations</a:t>
            </a:r>
            <a:endParaRPr lang="en-US" sz="2600" dirty="0"/>
          </a:p>
        </p:txBody>
      </p:sp>
      <p:sp>
        <p:nvSpPr>
          <p:cNvPr id="5" name="Shape 3"/>
          <p:cNvSpPr/>
          <p:nvPr/>
        </p:nvSpPr>
        <p:spPr>
          <a:xfrm>
            <a:off x="502920" y="822960"/>
            <a:ext cx="7315200" cy="0"/>
          </a:xfrm>
          <a:prstGeom prst="line">
            <a:avLst/>
          </a:prstGeom>
          <a:noFill/>
          <a:ln w="25400">
            <a:solidFill>
              <a:srgbClr val="0A7E8C"/>
            </a:solidFill>
            <a:prstDash val="solid"/>
          </a:ln>
        </p:spPr>
      </p:sp>
      <p:sp>
        <p:nvSpPr>
          <p:cNvPr id="6" name="Shape 4"/>
          <p:cNvSpPr/>
          <p:nvPr/>
        </p:nvSpPr>
        <p:spPr>
          <a:xfrm>
            <a:off x="502920" y="1005840"/>
            <a:ext cx="8229600" cy="713232"/>
          </a:xfrm>
          <a:prstGeom prst="rect">
            <a:avLst/>
          </a:prstGeom>
          <a:solidFill>
            <a:srgbClr val="FFFFFF">
              <a:alpha val="10000"/>
            </a:srgbClr>
          </a:solidFill>
          <a:ln w="12700">
            <a:solidFill>
              <a:srgbClr val="12B5C5"/>
            </a:solidFill>
            <a:prstDash val="solid"/>
          </a:ln>
        </p:spPr>
      </p:sp>
      <p:sp>
        <p:nvSpPr>
          <p:cNvPr id="7" name="Text 5"/>
          <p:cNvSpPr/>
          <p:nvPr/>
        </p:nvSpPr>
        <p:spPr>
          <a:xfrm>
            <a:off x="685800" y="1005840"/>
            <a:ext cx="7955280" cy="713232"/>
          </a:xfrm>
          <a:prstGeom prst="rect">
            <a:avLst/>
          </a:prstGeom>
          <a:noFill/>
          <a:ln/>
        </p:spPr>
        <p:txBody>
          <a:bodyPr wrap="square" rtlCol="0" anchor="ctr"/>
          <a:lstStyle/>
          <a:p>
            <a:pPr indent="0" marL="0">
              <a:buNone/>
            </a:pPr>
            <a:r>
              <a:rPr lang="en-US" sz="1250" b="1" dirty="0">
                <a:solidFill>
                  <a:srgbClr val="12B5C5"/>
                </a:solidFill>
                <a:latin typeface="Calibri" pitchFamily="34" charset="0"/>
                <a:ea typeface="Calibri" pitchFamily="34" charset="-122"/>
                <a:cs typeface="Calibri" pitchFamily="34" charset="-120"/>
              </a:rPr>
              <a:t>Priority: </a:t>
            </a:r>
            <a:pPr indent="0" marL="0">
              <a:buNone/>
            </a:pPr>
            <a:r>
              <a:rPr lang="en-US" sz="1250" dirty="0">
                <a:solidFill>
                  <a:srgbClr val="FFFFFF"/>
                </a:solidFill>
                <a:latin typeface="Calibri" pitchFamily="34" charset="0"/>
                <a:ea typeface="Calibri" pitchFamily="34" charset="-122"/>
                <a:cs typeface="Calibri" pitchFamily="34" charset="-120"/>
              </a:rPr>
              <a:t>Focus on Hybrid Pipelines (PCA + SelectKBest) that account for spatial covariance across EEG channels.</a:t>
            </a:r>
            <a:endParaRPr lang="en-US" sz="1250" dirty="0"/>
          </a:p>
        </p:txBody>
      </p:sp>
      <p:sp>
        <p:nvSpPr>
          <p:cNvPr id="8" name="Shape 6"/>
          <p:cNvSpPr/>
          <p:nvPr/>
        </p:nvSpPr>
        <p:spPr>
          <a:xfrm>
            <a:off x="502920" y="1847088"/>
            <a:ext cx="8229600" cy="713232"/>
          </a:xfrm>
          <a:prstGeom prst="rect">
            <a:avLst/>
          </a:prstGeom>
          <a:solidFill>
            <a:srgbClr val="FFFFFF">
              <a:alpha val="10000"/>
            </a:srgbClr>
          </a:solidFill>
          <a:ln w="12700">
            <a:solidFill>
              <a:srgbClr val="12B5C5"/>
            </a:solidFill>
            <a:prstDash val="solid"/>
          </a:ln>
        </p:spPr>
      </p:sp>
      <p:sp>
        <p:nvSpPr>
          <p:cNvPr id="9" name="Text 7"/>
          <p:cNvSpPr/>
          <p:nvPr/>
        </p:nvSpPr>
        <p:spPr>
          <a:xfrm>
            <a:off x="685800" y="1847088"/>
            <a:ext cx="7955280" cy="713232"/>
          </a:xfrm>
          <a:prstGeom prst="rect">
            <a:avLst/>
          </a:prstGeom>
          <a:noFill/>
          <a:ln/>
        </p:spPr>
        <p:txBody>
          <a:bodyPr wrap="square" rtlCol="0" anchor="ctr"/>
          <a:lstStyle/>
          <a:p>
            <a:pPr indent="0" marL="0">
              <a:buNone/>
            </a:pPr>
            <a:r>
              <a:rPr lang="en-US" sz="1250" b="1" dirty="0">
                <a:solidFill>
                  <a:srgbClr val="12B5C5"/>
                </a:solidFill>
                <a:latin typeface="Calibri" pitchFamily="34" charset="0"/>
                <a:ea typeface="Calibri" pitchFamily="34" charset="-122"/>
                <a:cs typeface="Calibri" pitchFamily="34" charset="-120"/>
              </a:rPr>
              <a:t>Metric: </a:t>
            </a:r>
            <a:pPr indent="0" marL="0">
              <a:buNone/>
            </a:pPr>
            <a:r>
              <a:rPr lang="en-US" sz="1250" dirty="0">
                <a:solidFill>
                  <a:srgbClr val="FFFFFF"/>
                </a:solidFill>
                <a:latin typeface="Calibri" pitchFamily="34" charset="0"/>
                <a:ea typeface="Calibri" pitchFamily="34" charset="-122"/>
                <a:cs typeface="Calibri" pitchFamily="34" charset="-120"/>
              </a:rPr>
              <a:t>Always prioritize PR-AUC over Accuracy for medical diagnostic tasks with severe class imbalance.</a:t>
            </a:r>
            <a:endParaRPr lang="en-US" sz="1250" dirty="0"/>
          </a:p>
        </p:txBody>
      </p:sp>
      <p:sp>
        <p:nvSpPr>
          <p:cNvPr id="10" name="Shape 8"/>
          <p:cNvSpPr/>
          <p:nvPr/>
        </p:nvSpPr>
        <p:spPr>
          <a:xfrm>
            <a:off x="502920" y="2688336"/>
            <a:ext cx="8229600" cy="713232"/>
          </a:xfrm>
          <a:prstGeom prst="rect">
            <a:avLst/>
          </a:prstGeom>
          <a:solidFill>
            <a:srgbClr val="FFFFFF">
              <a:alpha val="10000"/>
            </a:srgbClr>
          </a:solidFill>
          <a:ln w="12700">
            <a:solidFill>
              <a:srgbClr val="F0A500"/>
            </a:solidFill>
            <a:prstDash val="solid"/>
          </a:ln>
        </p:spPr>
      </p:sp>
      <p:sp>
        <p:nvSpPr>
          <p:cNvPr id="11" name="Text 9"/>
          <p:cNvSpPr/>
          <p:nvPr/>
        </p:nvSpPr>
        <p:spPr>
          <a:xfrm>
            <a:off x="685800" y="2688336"/>
            <a:ext cx="7955280" cy="713232"/>
          </a:xfrm>
          <a:prstGeom prst="rect">
            <a:avLst/>
          </a:prstGeom>
          <a:noFill/>
          <a:ln/>
        </p:spPr>
        <p:txBody>
          <a:bodyPr wrap="square" rtlCol="0" anchor="ctr"/>
          <a:lstStyle/>
          <a:p>
            <a:pPr indent="0" marL="0">
              <a:buNone/>
            </a:pPr>
            <a:r>
              <a:rPr lang="en-US" sz="1250" b="1" dirty="0">
                <a:solidFill>
                  <a:srgbClr val="F0A500"/>
                </a:solidFill>
                <a:latin typeface="Calibri" pitchFamily="34" charset="0"/>
                <a:ea typeface="Calibri" pitchFamily="34" charset="-122"/>
                <a:cs typeface="Calibri" pitchFamily="34" charset="-120"/>
              </a:rPr>
              <a:t>Stability: </a:t>
            </a:r>
            <a:pPr indent="0" marL="0">
              <a:buNone/>
            </a:pPr>
            <a:r>
              <a:rPr lang="en-US" sz="1250" dirty="0">
                <a:solidFill>
                  <a:srgbClr val="FFFFFF"/>
                </a:solidFill>
                <a:latin typeface="Calibri" pitchFamily="34" charset="0"/>
                <a:ea typeface="Calibri" pitchFamily="34" charset="-122"/>
                <a:cs typeface="Calibri" pitchFamily="34" charset="-120"/>
              </a:rPr>
              <a:t>Class Weighting is safer than SMOTE for sensitive biomedical signals — preserves signal integrity.</a:t>
            </a:r>
            <a:endParaRPr lang="en-US" sz="1250" dirty="0"/>
          </a:p>
        </p:txBody>
      </p:sp>
      <p:sp>
        <p:nvSpPr>
          <p:cNvPr id="12" name="Shape 10"/>
          <p:cNvSpPr/>
          <p:nvPr/>
        </p:nvSpPr>
        <p:spPr>
          <a:xfrm>
            <a:off x="502920" y="3529584"/>
            <a:ext cx="8229600" cy="713232"/>
          </a:xfrm>
          <a:prstGeom prst="rect">
            <a:avLst/>
          </a:prstGeom>
          <a:solidFill>
            <a:srgbClr val="FFFFFF">
              <a:alpha val="10000"/>
            </a:srgbClr>
          </a:solidFill>
          <a:ln w="12700">
            <a:solidFill>
              <a:srgbClr val="F0A500"/>
            </a:solidFill>
            <a:prstDash val="solid"/>
          </a:ln>
        </p:spPr>
      </p:sp>
      <p:sp>
        <p:nvSpPr>
          <p:cNvPr id="13" name="Text 11"/>
          <p:cNvSpPr/>
          <p:nvPr/>
        </p:nvSpPr>
        <p:spPr>
          <a:xfrm>
            <a:off x="685800" y="3529584"/>
            <a:ext cx="7955280" cy="713232"/>
          </a:xfrm>
          <a:prstGeom prst="rect">
            <a:avLst/>
          </a:prstGeom>
          <a:noFill/>
          <a:ln/>
        </p:spPr>
        <p:txBody>
          <a:bodyPr wrap="square" rtlCol="0" anchor="ctr"/>
          <a:lstStyle/>
          <a:p>
            <a:pPr indent="0" marL="0">
              <a:buNone/>
            </a:pPr>
            <a:r>
              <a:rPr lang="en-US" sz="1250" b="1" dirty="0">
                <a:solidFill>
                  <a:srgbClr val="F0A500"/>
                </a:solidFill>
                <a:latin typeface="Calibri" pitchFamily="34" charset="0"/>
                <a:ea typeface="Calibri" pitchFamily="34" charset="-122"/>
                <a:cs typeface="Calibri" pitchFamily="34" charset="-120"/>
              </a:rPr>
              <a:t>Generalization: </a:t>
            </a:r>
            <a:pPr indent="0" marL="0">
              <a:buNone/>
            </a:pPr>
            <a:r>
              <a:rPr lang="en-US" sz="1250" dirty="0">
                <a:solidFill>
                  <a:srgbClr val="FFFFFF"/>
                </a:solidFill>
                <a:latin typeface="Calibri" pitchFamily="34" charset="0"/>
                <a:ea typeface="Calibri" pitchFamily="34" charset="-122"/>
                <a:cs typeface="Calibri" pitchFamily="34" charset="-120"/>
              </a:rPr>
              <a:t>L2 Regularization is essential for cross-dataset and cross-patient stability.</a:t>
            </a:r>
            <a:endParaRPr lang="en-US" sz="1250" dirty="0"/>
          </a:p>
        </p:txBody>
      </p:sp>
      <p:sp>
        <p:nvSpPr>
          <p:cNvPr id="14" name="Text 12"/>
          <p:cNvSpPr/>
          <p:nvPr/>
        </p:nvSpPr>
        <p:spPr>
          <a:xfrm>
            <a:off x="502920" y="4800600"/>
            <a:ext cx="5029200" cy="228600"/>
          </a:xfrm>
          <a:prstGeom prst="rect">
            <a:avLst/>
          </a:prstGeom>
          <a:noFill/>
          <a:ln/>
        </p:spPr>
        <p:txBody>
          <a:bodyPr wrap="square" rtlCol="0" anchor="ctr"/>
          <a:lstStyle/>
          <a:p>
            <a:pPr indent="0" marL="0">
              <a:buNone/>
            </a:pPr>
            <a:r>
              <a:rPr lang="en-US" sz="950" dirty="0">
                <a:solidFill>
                  <a:srgbClr val="4A6572"/>
                </a:solidFill>
                <a:latin typeface="Calibri" pitchFamily="34" charset="0"/>
                <a:ea typeface="Calibri" pitchFamily="34" charset="-122"/>
                <a:cs typeface="Calibri" pitchFamily="34" charset="-120"/>
              </a:rPr>
              <a:t>Hassan Mehmood  |  IMSciences Peshawar  |  2024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8C"/>
          </a:solidFill>
          <a:ln w="12700">
            <a:solidFill>
              <a:srgbClr val="0A7E8C"/>
            </a:solidFill>
            <a:prstDash val="solid"/>
          </a:ln>
        </p:spPr>
      </p:sp>
      <p:sp>
        <p:nvSpPr>
          <p:cNvPr id="3" name="Shape 1"/>
          <p:cNvSpPr/>
          <p:nvPr/>
        </p:nvSpPr>
        <p:spPr>
          <a:xfrm>
            <a:off x="164592" y="0"/>
            <a:ext cx="54864" cy="5143500"/>
          </a:xfrm>
          <a:prstGeom prst="rect">
            <a:avLst/>
          </a:prstGeom>
          <a:solidFill>
            <a:srgbClr val="F0A500"/>
          </a:solidFill>
          <a:ln w="12700">
            <a:solidFill>
              <a:srgbClr val="F0A500"/>
            </a:solidFill>
            <a:prstDash val="solid"/>
          </a:ln>
        </p:spPr>
      </p:sp>
      <p:sp>
        <p:nvSpPr>
          <p:cNvPr id="4" name="Text 2"/>
          <p:cNvSpPr/>
          <p:nvPr/>
        </p:nvSpPr>
        <p:spPr>
          <a:xfrm>
            <a:off x="914400" y="1005840"/>
            <a:ext cx="7315200" cy="137160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Questions?</a:t>
            </a:r>
            <a:endParaRPr lang="en-US" sz="6400" dirty="0"/>
          </a:p>
        </p:txBody>
      </p:sp>
      <p:sp>
        <p:nvSpPr>
          <p:cNvPr id="5" name="Shape 3"/>
          <p:cNvSpPr/>
          <p:nvPr/>
        </p:nvSpPr>
        <p:spPr>
          <a:xfrm>
            <a:off x="2286000" y="2560320"/>
            <a:ext cx="4572000" cy="0"/>
          </a:xfrm>
          <a:prstGeom prst="line">
            <a:avLst/>
          </a:prstGeom>
          <a:noFill/>
          <a:ln w="25400">
            <a:solidFill>
              <a:srgbClr val="0A7E8C"/>
            </a:solidFill>
            <a:prstDash val="solid"/>
          </a:ln>
        </p:spPr>
      </p:sp>
      <p:sp>
        <p:nvSpPr>
          <p:cNvPr id="6" name="Text 4"/>
          <p:cNvSpPr/>
          <p:nvPr/>
        </p:nvSpPr>
        <p:spPr>
          <a:xfrm>
            <a:off x="914400" y="2743200"/>
            <a:ext cx="7315200" cy="457200"/>
          </a:xfrm>
          <a:prstGeom prst="rect">
            <a:avLst/>
          </a:prstGeom>
          <a:noFill/>
          <a:ln/>
        </p:spPr>
        <p:txBody>
          <a:bodyPr wrap="square" rtlCol="0" anchor="ctr"/>
          <a:lstStyle/>
          <a:p>
            <a:pPr algn="ctr" indent="0" marL="0">
              <a:buNone/>
            </a:pPr>
            <a:r>
              <a:rPr lang="en-US" sz="1800" i="1" dirty="0">
                <a:solidFill>
                  <a:srgbClr val="12B5C5"/>
                </a:solidFill>
                <a:latin typeface="Calibri" pitchFamily="34" charset="0"/>
                <a:ea typeface="Calibri" pitchFamily="34" charset="-122"/>
                <a:cs typeface="Calibri" pitchFamily="34" charset="-120"/>
              </a:rPr>
              <a:t>Thank you for your attention.</a:t>
            </a:r>
            <a:endParaRPr lang="en-US" sz="1800" dirty="0"/>
          </a:p>
        </p:txBody>
      </p:sp>
      <p:sp>
        <p:nvSpPr>
          <p:cNvPr id="7" name="Text 5"/>
          <p:cNvSpPr/>
          <p:nvPr/>
        </p:nvSpPr>
        <p:spPr>
          <a:xfrm>
            <a:off x="914400" y="3383280"/>
            <a:ext cx="731520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Hassan Mehmood</a:t>
            </a:r>
            <a:endParaRPr lang="en-US" sz="1500" dirty="0"/>
          </a:p>
        </p:txBody>
      </p:sp>
      <p:sp>
        <p:nvSpPr>
          <p:cNvPr id="8" name="Text 6"/>
          <p:cNvSpPr/>
          <p:nvPr/>
        </p:nvSpPr>
        <p:spPr>
          <a:xfrm>
            <a:off x="914400" y="3794760"/>
            <a:ext cx="7315200" cy="320040"/>
          </a:xfrm>
          <a:prstGeom prst="rect">
            <a:avLst/>
          </a:prstGeom>
          <a:noFill/>
          <a:ln/>
        </p:spPr>
        <p:txBody>
          <a:bodyPr wrap="square" rtlCol="0" anchor="ctr"/>
          <a:lstStyle/>
          <a:p>
            <a:pPr algn="ctr" indent="0" marL="0">
              <a:buNone/>
            </a:pPr>
            <a:r>
              <a:rPr lang="en-US" sz="1200" dirty="0">
                <a:solidFill>
                  <a:srgbClr val="4A6572"/>
                </a:solidFill>
                <a:latin typeface="Calibri" pitchFamily="34" charset="0"/>
                <a:ea typeface="Calibri" pitchFamily="34" charset="-122"/>
                <a:cs typeface="Calibri" pitchFamily="34" charset="-120"/>
              </a:rPr>
              <a:t>Institute of Management Sciences (IMSciences), Peshawar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Comparative Analysis of Preprocessing, Regularization, and Class Imbalance Techniques in EEG-Based Seizure Prediction</dc:title>
  <dc:subject>PptxGenJS Presentation</dc:subject>
  <dc:creator>Hassan Mehmood</dc:creator>
  <cp:lastModifiedBy>Hassan Mehmood</cp:lastModifiedBy>
  <cp:revision>1</cp:revision>
  <dcterms:created xsi:type="dcterms:W3CDTF">2026-05-15T18:32:57Z</dcterms:created>
  <dcterms:modified xsi:type="dcterms:W3CDTF">2026-05-15T18:32:57Z</dcterms:modified>
</cp:coreProperties>
</file>